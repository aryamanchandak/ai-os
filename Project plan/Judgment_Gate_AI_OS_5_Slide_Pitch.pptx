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b28ef4f9bb4971" /><Relationship Type="http://schemas.openxmlformats.org/officeDocument/2006/relationships/extended-properties" Target="/docProps/app.xml" Id="R6669800141914cc6" /><Relationship Type="http://schemas.openxmlformats.org/officeDocument/2006/relationships/officeDocument" Target="/ppt/presentation.xml" Id="Re9a73d0e630141fa" /></Relationships>
</file>

<file path=ppt/presentation.xml><?xml version="1.0" encoding="utf-8"?>
<p:presentation xmlns:p="http://schemas.openxmlformats.org/presentationml/2006/main">
  <p:sldMasterIdLst>
    <p:sldMasterId xmlns:r="http://schemas.openxmlformats.org/officeDocument/2006/relationships" id="2147483648" r:id="Recbdbc88b4da4e81"/>
  </p:sldMasterIdLst>
  <p:notesMasterIdLst>
    <p:notesMasterId xmlns:r="http://schemas.openxmlformats.org/officeDocument/2006/relationships" r:id="Re62aa96def7c4989"/>
  </p:notesMasterIdLst>
  <p:sldIdLst>
    <p:sldId xmlns:r="http://schemas.openxmlformats.org/officeDocument/2006/relationships" id="256" r:id="R3e1e2d605c7a463f"/>
    <p:sldId xmlns:r="http://schemas.openxmlformats.org/officeDocument/2006/relationships" id="257" r:id="Rf84e248cb4bd40e5"/>
    <p:sldId xmlns:r="http://schemas.openxmlformats.org/officeDocument/2006/relationships" id="258" r:id="R566691706a974e8b"/>
    <p:sldId xmlns:r="http://schemas.openxmlformats.org/officeDocument/2006/relationships" id="259" r:id="Refc456f846294fb2"/>
    <p:sldId xmlns:r="http://schemas.openxmlformats.org/officeDocument/2006/relationships" id="260" r:id="R14ba8430e2a84f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cec130059442fb" /><Relationship Type="http://schemas.openxmlformats.org/officeDocument/2006/relationships/slideMaster" Target="/ppt/slideMasters/slideMaster1.xml" Id="Recbdbc88b4da4e81" /><Relationship Type="http://schemas.openxmlformats.org/officeDocument/2006/relationships/notesMaster" Target="/ppt/notesMasters/notesMaster1.xml" Id="Re62aa96def7c4989" /><Relationship Type="http://schemas.openxmlformats.org/officeDocument/2006/relationships/presProps" Target="/ppt/presProps.xml" Id="R56be0109acfd4535" /><Relationship Type="http://schemas.openxmlformats.org/officeDocument/2006/relationships/tableStyles" Target="/ppt/tableStyles.xml" Id="R728b0b7aa9904eb7" /><Relationship Type="http://schemas.openxmlformats.org/officeDocument/2006/relationships/slide" Target="/ppt/slides/slide1.xml" Id="R3e1e2d605c7a463f" /><Relationship Type="http://schemas.openxmlformats.org/officeDocument/2006/relationships/slide" Target="/ppt/slides/slide2.xml" Id="Rf84e248cb4bd40e5" /><Relationship Type="http://schemas.openxmlformats.org/officeDocument/2006/relationships/slide" Target="/ppt/slides/slide3.xml" Id="R566691706a974e8b" /><Relationship Type="http://schemas.openxmlformats.org/officeDocument/2006/relationships/slide" Target="/ppt/slides/slide4.xml" Id="Refc456f846294fb2" /><Relationship Type="http://schemas.openxmlformats.org/officeDocument/2006/relationships/slide" Target="/ppt/slides/slide5.xml" Id="R14ba8430e2a84f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bbc7b1520e41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757e1591be4335" /><Relationship Type="http://schemas.openxmlformats.org/officeDocument/2006/relationships/notesMaster" Target="/ppt/notesMasters/notesMaster1.xml" Id="Rb6337b56cd1b43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14e08a419645fe" /><Relationship Type="http://schemas.openxmlformats.org/officeDocument/2006/relationships/notesMaster" Target="/ppt/notesMasters/notesMaster1.xml" Id="R99330600803540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cfea2bdb1a4922" /><Relationship Type="http://schemas.openxmlformats.org/officeDocument/2006/relationships/notesMaster" Target="/ppt/notesMasters/notesMaster1.xml" Id="R79b74fed8ae14e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1ec739707141c4" /><Relationship Type="http://schemas.openxmlformats.org/officeDocument/2006/relationships/notesMaster" Target="/ppt/notesMasters/notesMaster1.xml" Id="R81e8df8bd0244c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1a716733d44b7d" /><Relationship Type="http://schemas.openxmlformats.org/officeDocument/2006/relationships/notesMaster" Target="/ppt/notesMasters/notesMaster1.xml" Id="R88fa863d538b42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Judgment Gate sits inside a personal AI operating system. The OS carries context across work and life. The gate protects agency by requiring the user’s own judgment before decision assistance begins. Voice, TTS, and STT are outside this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access to answers. It is the loss of practice, memory, and accountability around real decisions. Current assistants rarely require a prior judgment, preserve the user’s reasoning, or close the loop 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broader product behaves like an operating system for personal context and recurring workflows. Judgment Gate activates only for decision-shaped moments. It requires a claim, confidence, and reasoning first, then runs the checks relevant to that decision and explains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moat is not any individual check. It is the accumulated context graph plus the user’s decision record and outcome history. That data improves orchestration and calibration while allowing assistance to fade as the user improves.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build proves a narrow system, not a general assistant. It connects personal context, open-loop resurfacing, the explicit judgment gate, and outcome-based learning. Voice, TTS, and STT remain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5cc6312d794c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a3de3fe7ae4aa4" /><Relationship Type="http://schemas.openxmlformats.org/officeDocument/2006/relationships/slideLayout" Target="/ppt/slideLayouts/slideLayout1.xml" Id="R6989b7bd68ec4e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89b7bd68ec4e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9dcfd3eff54465" /><Relationship Type="http://schemas.openxmlformats.org/officeDocument/2006/relationships/notesSlide" Target="/ppt/notesSlides/notesSlide1.xml" Id="R451633df39b542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0013ccfe6a4019" /><Relationship Type="http://schemas.openxmlformats.org/officeDocument/2006/relationships/notesSlide" Target="/ppt/notesSlides/notesSlide2.xml" Id="Raf72488e38e948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1b2393438445af" /><Relationship Type="http://schemas.openxmlformats.org/officeDocument/2006/relationships/notesSlide" Target="/ppt/notesSlides/notesSlide3.xml" Id="Ra15f54670f7b42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28c48df1fc427e" /><Relationship Type="http://schemas.openxmlformats.org/officeDocument/2006/relationships/notesSlide" Target="/ppt/notesSlides/notesSlide4.xml" Id="R6c56bf2cee0449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3947f77b5e48c6" /><Relationship Type="http://schemas.openxmlformats.org/officeDocument/2006/relationships/notesSlide" Target="/ppt/notesSlides/notesSlide5.xml" Id="Re9413a68cf214066" /></Relationships>
</file>

<file path=ppt/slides/slide1.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6D7021-1DC6-4D2F-AAF7-EC71E2CD4097}"/>
              </a:ext>
            </a:extLst>
          </p:cNvPr>
          <p:cNvSpPr>
            <a:spLocks xmlns:a="http://schemas.openxmlformats.org/drawingml/2006/main" noGrp="1"/>
          </p:cNvSpPr>
          <p:nvPr/>
        </p:nvSpPr>
        <p:spPr>
          <a:xfrm xmlns:a="http://schemas.openxmlformats.org/drawingml/2006/main">
            <a:off x="685800" y="457200"/>
            <a:ext cx="1428750" cy="295275"/>
          </a:xfrm>
          <a:prstGeom xmlns:a="http://schemas.openxmlformats.org/drawingml/2006/main" prst="roundRect">
            <a:avLst>
              <a:gd name="adj" fmla="val 25806"/>
            </a:avLst>
          </a:prstGeom>
          <a:solidFill xmlns:a="http://schemas.openxmlformats.org/drawingml/2006/main">
            <a:srgbClr val="2A2A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65881F-DF71-4317-9FE5-F9F684591C23}"/>
              </a:ext>
            </a:extLst>
          </p:cNvPr>
          <p:cNvSpPr>
            <a:spLocks xmlns:a="http://schemas.openxmlformats.org/drawingml/2006/main" noGrp="1"/>
          </p:cNvSpPr>
          <p:nvPr/>
        </p:nvSpPr>
        <p:spPr>
          <a:xfrm xmlns:a="http://schemas.openxmlformats.org/drawingml/2006/main">
            <a:off x="838200" y="533400"/>
            <a:ext cx="1143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25" b="1">
                <a:solidFill>
                  <a:srgbClr val="FFFFFF"/>
                </a:solidFill>
                <a:latin typeface="Aptos"/>
                <a:ea typeface="Aptos"/>
                <a:cs typeface="Aptos"/>
              </a:defRPr>
            </a:pPr>
            <a:r>
              <a:rPr sz="825" b="1">
                <a:solidFill>
                  <a:srgbClr val="FFFFFF"/>
                </a:solidFill>
                <a:latin typeface="Aptos"/>
                <a:ea typeface="Aptos"/>
                <a:cs typeface="Aptos"/>
              </a:rPr>
              <a:t>PERSONAL AI OS</a:t>
            </a:r>
          </a:p>
        </p:txBody>
      </p:sp>
      <p:sp>
        <p:nvSpPr>
          <p:cNvPr id="3" name="">
            <a:extLst xmlns:a="http://schemas.openxmlformats.org/drawingml/2006/main">
              <a:ext uri="{FF2B5EF4-FFF2-40B4-BE49-F238E27FC236}">
                <a16:creationId xmlns:a16="http://schemas.microsoft.com/office/drawing/2014/main" id="{9B12B997-9B30-4EE3-A148-FE65489EE6B5}"/>
              </a:ext>
            </a:extLst>
          </p:cNvPr>
          <p:cNvSpPr>
            <a:spLocks xmlns:a="http://schemas.openxmlformats.org/drawingml/2006/main" noGrp="1"/>
          </p:cNvSpPr>
          <p:nvPr/>
        </p:nvSpPr>
        <p:spPr>
          <a:xfrm xmlns:a="http://schemas.openxmlformats.org/drawingml/2006/main">
            <a:off x="685800" y="1162050"/>
            <a:ext cx="723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100" b="1">
                <a:solidFill>
                  <a:srgbClr val="FFFFFF"/>
                </a:solidFill>
                <a:latin typeface="Aptos Display"/>
                <a:ea typeface="Aptos Display"/>
                <a:cs typeface="Aptos Display"/>
              </a:defRPr>
            </a:pPr>
            <a:r>
              <a:rPr sz="5100" b="1">
                <a:solidFill>
                  <a:srgbClr val="FFFFFF"/>
                </a:solidFill>
                <a:latin typeface="Aptos Display"/>
                <a:ea typeface="Aptos Display"/>
                <a:cs typeface="Aptos Display"/>
              </a:rPr>
              <a:t>Judgment Gate</a:t>
            </a:r>
          </a:p>
        </p:txBody>
      </p:sp>
      <p:sp>
        <p:nvSpPr>
          <p:cNvPr id="4" name="">
            <a:extLst xmlns:a="http://schemas.openxmlformats.org/drawingml/2006/main">
              <a:ext uri="{FF2B5EF4-FFF2-40B4-BE49-F238E27FC236}">
                <a16:creationId xmlns:a16="http://schemas.microsoft.com/office/drawing/2014/main" id="{7DE21978-AF49-4679-BBEB-56BEC6D9A823}"/>
              </a:ext>
            </a:extLst>
          </p:cNvPr>
          <p:cNvSpPr>
            <a:spLocks xmlns:a="http://schemas.openxmlformats.org/drawingml/2006/main" noGrp="1"/>
          </p:cNvSpPr>
          <p:nvPr/>
        </p:nvSpPr>
        <p:spPr>
          <a:xfrm xmlns:a="http://schemas.openxmlformats.org/drawingml/2006/main">
            <a:off x="685800" y="2009775"/>
            <a:ext cx="790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FFFFFF"/>
                </a:solidFill>
                <a:latin typeface="Aptos"/>
                <a:ea typeface="Aptos"/>
                <a:cs typeface="Aptos"/>
              </a:defRPr>
            </a:pPr>
            <a:r>
              <a:rPr sz="2475" b="0">
                <a:solidFill>
                  <a:srgbClr val="FFFFFF"/>
                </a:solidFill>
                <a:latin typeface="Aptos"/>
                <a:ea typeface="Aptos"/>
                <a:cs typeface="Aptos"/>
              </a:rPr>
              <a:t>The judgment layer for your AI OS</a:t>
            </a:r>
          </a:p>
        </p:txBody>
      </p:sp>
      <p:sp>
        <p:nvSpPr>
          <p:cNvPr id="5" name="">
            <a:extLst xmlns:a="http://schemas.openxmlformats.org/drawingml/2006/main">
              <a:ext uri="{FF2B5EF4-FFF2-40B4-BE49-F238E27FC236}">
                <a16:creationId xmlns:a16="http://schemas.microsoft.com/office/drawing/2014/main" id="{12A20898-8481-4173-8E67-326DE07975A5}"/>
              </a:ext>
            </a:extLst>
          </p:cNvPr>
          <p:cNvSpPr>
            <a:spLocks xmlns:a="http://schemas.openxmlformats.org/drawingml/2006/main" noGrp="1"/>
          </p:cNvSpPr>
          <p:nvPr/>
        </p:nvSpPr>
        <p:spPr>
          <a:xfrm xmlns:a="http://schemas.openxmlformats.org/drawingml/2006/main">
            <a:off x="685800" y="2800350"/>
            <a:ext cx="10820400" cy="0"/>
          </a:xfrm>
          <a:prstGeom xmlns:a="http://schemas.openxmlformats.org/drawingml/2006/main" prst="line">
            <a:avLst/>
          </a:prstGeom>
          <a:noFill xmlns:a="http://schemas.openxmlformats.org/drawingml/2006/main"/>
          <a:ln xmlns:a="http://schemas.openxmlformats.org/drawingml/2006/main" w="9525">
            <a:solidFill>
              <a:srgbClr val="3B3B3B"/>
            </a:solidFill>
          </a:ln>
        </p:spPr>
      </p:sp>
      <p:sp>
        <p:nvSpPr>
          <p:cNvPr id="6" name="">
            <a:extLst xmlns:a="http://schemas.openxmlformats.org/drawingml/2006/main">
              <a:ext uri="{FF2B5EF4-FFF2-40B4-BE49-F238E27FC236}">
                <a16:creationId xmlns:a16="http://schemas.microsoft.com/office/drawing/2014/main" id="{6E3A8A1A-3CCD-41B7-8A99-7F521E0979CD}"/>
              </a:ext>
            </a:extLst>
          </p:cNvPr>
          <p:cNvSpPr>
            <a:spLocks xmlns:a="http://schemas.openxmlformats.org/drawingml/2006/main" noGrp="1"/>
          </p:cNvSpPr>
          <p:nvPr/>
        </p:nvSpPr>
        <p:spPr>
          <a:xfrm xmlns:a="http://schemas.openxmlformats.org/drawingml/2006/main">
            <a:off x="685800" y="32575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B9B9B9"/>
                </a:solidFill>
                <a:latin typeface="Aptos"/>
                <a:ea typeface="Aptos"/>
                <a:cs typeface="Aptos"/>
              </a:defRPr>
            </a:pPr>
            <a:r>
              <a:rPr sz="1200" b="1">
                <a:solidFill>
                  <a:srgbClr val="B9B9B9"/>
                </a:solidFill>
                <a:latin typeface="Aptos"/>
                <a:ea typeface="Aptos"/>
                <a:cs typeface="Aptos"/>
              </a:rPr>
              <a:t>Your AI OS understands</a:t>
            </a:r>
          </a:p>
        </p:txBody>
      </p:sp>
      <p:sp>
        <p:nvSpPr>
          <p:cNvPr id="7" name="">
            <a:extLst xmlns:a="http://schemas.openxmlformats.org/drawingml/2006/main">
              <a:ext uri="{FF2B5EF4-FFF2-40B4-BE49-F238E27FC236}">
                <a16:creationId xmlns:a16="http://schemas.microsoft.com/office/drawing/2014/main" id="{B9193131-EF82-4757-A3B4-7682C3E9B865}"/>
              </a:ext>
            </a:extLst>
          </p:cNvPr>
          <p:cNvSpPr>
            <a:spLocks xmlns:a="http://schemas.openxmlformats.org/drawingml/2006/main" noGrp="1"/>
          </p:cNvSpPr>
          <p:nvPr/>
        </p:nvSpPr>
        <p:spPr>
          <a:xfrm xmlns:a="http://schemas.openxmlformats.org/drawingml/2006/main">
            <a:off x="685800" y="3638550"/>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goals</a:t>
            </a:r>
          </a:p>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priorities</a:t>
            </a:r>
          </a:p>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knowledge</a:t>
            </a:r>
          </a:p>
        </p:txBody>
      </p:sp>
      <p:sp>
        <p:nvSpPr>
          <p:cNvPr id="8" name="">
            <a:extLst xmlns:a="http://schemas.openxmlformats.org/drawingml/2006/main">
              <a:ext uri="{FF2B5EF4-FFF2-40B4-BE49-F238E27FC236}">
                <a16:creationId xmlns:a16="http://schemas.microsoft.com/office/drawing/2014/main" id="{A47F7A2F-B8AE-40EC-8BE0-429F7ADDD7D1}"/>
              </a:ext>
            </a:extLst>
          </p:cNvPr>
          <p:cNvSpPr>
            <a:spLocks xmlns:a="http://schemas.openxmlformats.org/drawingml/2006/main" noGrp="1"/>
          </p:cNvSpPr>
          <p:nvPr/>
        </p:nvSpPr>
        <p:spPr>
          <a:xfrm xmlns:a="http://schemas.openxmlformats.org/drawingml/2006/main">
            <a:off x="3667125" y="32575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1">
                <a:solidFill>
                  <a:srgbClr val="B9B9B9"/>
                </a:solidFill>
                <a:latin typeface="Aptos"/>
                <a:ea typeface="Aptos"/>
                <a:cs typeface="Aptos"/>
              </a:defRPr>
            </a:pPr>
            <a:r>
              <a:rPr sz="1200" b="1">
                <a:solidFill>
                  <a:srgbClr val="B9B9B9"/>
                </a:solidFill>
                <a:latin typeface="Aptos"/>
                <a:ea typeface="Aptos"/>
                <a:cs typeface="Aptos"/>
              </a:rPr>
              <a:t>and keeps track of</a:t>
            </a:r>
          </a:p>
        </p:txBody>
      </p:sp>
      <p:sp>
        <p:nvSpPr>
          <p:cNvPr id="9" name="">
            <a:extLst xmlns:a="http://schemas.openxmlformats.org/drawingml/2006/main">
              <a:ext uri="{FF2B5EF4-FFF2-40B4-BE49-F238E27FC236}">
                <a16:creationId xmlns:a16="http://schemas.microsoft.com/office/drawing/2014/main" id="{9A75B0E0-18EB-403E-B816-F233783C1798}"/>
              </a:ext>
            </a:extLst>
          </p:cNvPr>
          <p:cNvSpPr>
            <a:spLocks xmlns:a="http://schemas.openxmlformats.org/drawingml/2006/main" noGrp="1"/>
          </p:cNvSpPr>
          <p:nvPr/>
        </p:nvSpPr>
        <p:spPr>
          <a:xfrm xmlns:a="http://schemas.openxmlformats.org/drawingml/2006/main">
            <a:off x="3667125" y="363855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open decisions</a:t>
            </a:r>
          </a:p>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recurring work</a:t>
            </a:r>
          </a:p>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decision history</a:t>
            </a:r>
          </a:p>
        </p:txBody>
      </p:sp>
      <p:sp>
        <p:nvSpPr>
          <p:cNvPr id="10" name="">
            <a:extLst xmlns:a="http://schemas.openxmlformats.org/drawingml/2006/main">
              <a:ext uri="{FF2B5EF4-FFF2-40B4-BE49-F238E27FC236}">
                <a16:creationId xmlns:a16="http://schemas.microsoft.com/office/drawing/2014/main" id="{DB3671A4-D460-4966-BD92-D531691FF585}"/>
              </a:ext>
            </a:extLst>
          </p:cNvPr>
          <p:cNvSpPr>
            <a:spLocks xmlns:a="http://schemas.openxmlformats.org/drawingml/2006/main" noGrp="1"/>
          </p:cNvSpPr>
          <p:nvPr/>
        </p:nvSpPr>
        <p:spPr>
          <a:xfrm xmlns:a="http://schemas.openxmlformats.org/drawingml/2006/main">
            <a:off x="7258050" y="3219450"/>
            <a:ext cx="57150" cy="1714500"/>
          </a:xfrm>
          <a:prstGeom xmlns:a="http://schemas.openxmlformats.org/drawingml/2006/main" prst="rect">
            <a:avLst/>
          </a:prstGeom>
          <a:solidFill xmlns:a="http://schemas.openxmlformats.org/drawingml/2006/main">
            <a:srgbClr val="E43A2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DF3CBCB-1790-43B5-8F0A-F3895EDAF07A}"/>
              </a:ext>
            </a:extLst>
          </p:cNvPr>
          <p:cNvSpPr>
            <a:spLocks xmlns:a="http://schemas.openxmlformats.org/drawingml/2006/main" noGrp="1"/>
          </p:cNvSpPr>
          <p:nvPr/>
        </p:nvSpPr>
        <p:spPr>
          <a:xfrm xmlns:a="http://schemas.openxmlformats.org/drawingml/2006/main">
            <a:off x="7667625" y="3409950"/>
            <a:ext cx="3667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FFFFFF"/>
                </a:solidFill>
                <a:latin typeface="Aptos"/>
                <a:ea typeface="Aptos"/>
                <a:cs typeface="Aptos"/>
              </a:defRPr>
            </a:pPr>
            <a:r>
              <a:rPr sz="2250" b="1">
                <a:solidFill>
                  <a:srgbClr val="FFFFFF"/>
                </a:solidFill>
                <a:latin typeface="Aptos"/>
                <a:ea typeface="Aptos"/>
                <a:cs typeface="Aptos"/>
              </a:rPr>
              <a:t>Before decision help,</a:t>
            </a:r>
          </a:p>
          <a:p xmlns:a="http://schemas.openxmlformats.org/drawingml/2006/main">
            <a:pPr>
              <a:defRPr sz="2250" b="1">
                <a:solidFill>
                  <a:srgbClr val="FFFFFF"/>
                </a:solidFill>
                <a:latin typeface="Aptos"/>
                <a:ea typeface="Aptos"/>
                <a:cs typeface="Aptos"/>
              </a:defRPr>
            </a:pPr>
            <a:r>
              <a:rPr sz="2250" b="1">
                <a:solidFill>
                  <a:srgbClr val="FFFFFF"/>
                </a:solidFill>
                <a:latin typeface="Aptos"/>
                <a:ea typeface="Aptos"/>
                <a:cs typeface="Aptos"/>
              </a:rPr>
              <a:t>you state your judgment.</a:t>
            </a:r>
          </a:p>
        </p:txBody>
      </p:sp>
      <p:sp>
        <p:nvSpPr>
          <p:cNvPr id="12" name="">
            <a:extLst xmlns:a="http://schemas.openxmlformats.org/drawingml/2006/main">
              <a:ext uri="{FF2B5EF4-FFF2-40B4-BE49-F238E27FC236}">
                <a16:creationId xmlns:a16="http://schemas.microsoft.com/office/drawing/2014/main" id="{26975E2F-1A31-44D6-8E15-B1C84C6B5690}"/>
              </a:ext>
            </a:extLst>
          </p:cNvPr>
          <p:cNvSpPr>
            <a:spLocks xmlns:a="http://schemas.openxmlformats.org/drawingml/2006/main" noGrp="1"/>
          </p:cNvSpPr>
          <p:nvPr/>
        </p:nvSpPr>
        <p:spPr>
          <a:xfrm xmlns:a="http://schemas.openxmlformats.org/drawingml/2006/main">
            <a:off x="7667625" y="436245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9B9"/>
                </a:solidFill>
                <a:latin typeface="Aptos"/>
                <a:ea typeface="Aptos"/>
                <a:cs typeface="Aptos"/>
              </a:defRPr>
            </a:pPr>
            <a:r>
              <a:rPr sz="1350" b="0">
                <a:solidFill>
                  <a:srgbClr val="B9B9B9"/>
                </a:solidFill>
                <a:latin typeface="Aptos"/>
                <a:ea typeface="Aptos"/>
                <a:cs typeface="Aptos"/>
              </a:rPr>
              <a:t>Claim. Confidence. Reasoning.</a:t>
            </a:r>
          </a:p>
        </p:txBody>
      </p:sp>
      <p:sp>
        <p:nvSpPr>
          <p:cNvPr id="13" name="">
            <a:extLst xmlns:a="http://schemas.openxmlformats.org/drawingml/2006/main">
              <a:ext uri="{FF2B5EF4-FFF2-40B4-BE49-F238E27FC236}">
                <a16:creationId xmlns:a16="http://schemas.microsoft.com/office/drawing/2014/main" id="{840DB0F8-D55A-4EBE-B1EF-5B28D76BE642}"/>
              </a:ext>
            </a:extLst>
          </p:cNvPr>
          <p:cNvSpPr>
            <a:spLocks xmlns:a="http://schemas.openxmlformats.org/drawingml/2006/main" noGrp="1"/>
          </p:cNvSpPr>
          <p:nvPr/>
        </p:nvSpPr>
        <p:spPr>
          <a:xfrm xmlns:a="http://schemas.openxmlformats.org/drawingml/2006/main">
            <a:off x="685800" y="5943600"/>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E43A26"/>
                </a:solidFill>
                <a:latin typeface="Aptos"/>
                <a:ea typeface="Aptos"/>
                <a:cs typeface="Aptos"/>
              </a:defRPr>
            </a:pPr>
            <a:r>
              <a:rPr sz="1800" b="1">
                <a:solidFill>
                  <a:srgbClr val="E43A26"/>
                </a:solidFill>
                <a:latin typeface="Aptos"/>
                <a:ea typeface="Aptos"/>
                <a:cs typeface="Aptos"/>
              </a:rPr>
              <a:t>Commit before you’re checked.</a:t>
            </a:r>
          </a:p>
        </p:txBody>
      </p:sp>
      <p:sp>
        <p:nvSpPr>
          <p:cNvPr id="14" name="">
            <a:extLst xmlns:a="http://schemas.openxmlformats.org/drawingml/2006/main">
              <a:ext uri="{FF2B5EF4-FFF2-40B4-BE49-F238E27FC236}">
                <a16:creationId xmlns:a16="http://schemas.microsoft.com/office/drawing/2014/main" id="{5DAE84A0-B04F-492A-AEBF-7B547CC694FE}"/>
              </a:ext>
            </a:extLst>
          </p:cNvPr>
          <p:cNvSpPr>
            <a:spLocks xmlns:a="http://schemas.openxmlformats.org/drawingml/2006/main" noGrp="1"/>
          </p:cNvSpPr>
          <p:nvPr/>
        </p:nvSpPr>
        <p:spPr>
          <a:xfrm xmlns:a="http://schemas.openxmlformats.org/drawingml/2006/main">
            <a:off x="11277600" y="6486525"/>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50" b="0">
                <a:solidFill>
                  <a:srgbClr val="666666"/>
                </a:solidFill>
                <a:latin typeface="Aptos"/>
                <a:ea typeface="Aptos"/>
                <a:cs typeface="Aptos"/>
              </a:defRPr>
            </a:pPr>
            <a:r>
              <a:rPr sz="750" b="0">
                <a:solidFill>
                  <a:srgbClr val="666666"/>
                </a:solidFill>
                <a:latin typeface="Aptos"/>
                <a:ea typeface="Aptos"/>
                <a:cs typeface="Aptos"/>
              </a:rPr>
              <a:t>1/5</a:t>
            </a:r>
          </a:p>
        </p:txBody>
      </p:sp>
    </p:spTree>
    <p:extLst>
      <p:ext uri="{BB962C8B-B14F-4D97-AF65-F5344CB8AC3E}">
        <p14:creationId xmlns:p14="http://schemas.microsoft.com/office/powerpoint/2010/main" val="698127656"/>
      </p:ext>
    </p:extLst>
  </p:cSld>
</p:sld>
</file>

<file path=ppt/slides/slide2.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B159437-95C1-41C7-8DD3-30E82726AA80}"/>
              </a:ext>
            </a:extLst>
          </p:cNvPr>
          <p:cNvSpPr>
            <a:spLocks xmlns:a="http://schemas.openxmlformats.org/drawingml/2006/main" noGrp="1"/>
          </p:cNvSpPr>
          <p:nvPr/>
        </p:nvSpPr>
        <p:spPr>
          <a:xfrm xmlns:a="http://schemas.openxmlformats.org/drawingml/2006/main">
            <a:off x="685800" y="4762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1">
                <a:solidFill>
                  <a:srgbClr val="E43A26"/>
                </a:solidFill>
                <a:latin typeface="Aptos"/>
                <a:ea typeface="Aptos"/>
                <a:cs typeface="Aptos"/>
              </a:defRPr>
            </a:pPr>
            <a:r>
              <a:rPr sz="1050" b="1">
                <a:solidFill>
                  <a:srgbClr val="E43A26"/>
                </a:solidFill>
                <a:latin typeface="Aptos"/>
                <a:ea typeface="Aptos"/>
                <a:cs typeface="Aptos"/>
              </a:rPr>
              <a:t>THE PROBLEM</a:t>
            </a:r>
          </a:p>
        </p:txBody>
      </p:sp>
      <p:sp>
        <p:nvSpPr>
          <p:cNvPr id="2" name="">
            <a:extLst xmlns:a="http://schemas.openxmlformats.org/drawingml/2006/main">
              <a:ext uri="{FF2B5EF4-FFF2-40B4-BE49-F238E27FC236}">
                <a16:creationId xmlns:a16="http://schemas.microsoft.com/office/drawing/2014/main" id="{70D1BEE7-B4AC-474E-82F0-F7CACDBB0016}"/>
              </a:ext>
            </a:extLst>
          </p:cNvPr>
          <p:cNvSpPr>
            <a:spLocks xmlns:a="http://schemas.openxmlformats.org/drawingml/2006/main" noGrp="1"/>
          </p:cNvSpPr>
          <p:nvPr/>
        </p:nvSpPr>
        <p:spPr>
          <a:xfrm xmlns:a="http://schemas.openxmlformats.org/drawingml/2006/main">
            <a:off x="685800" y="933450"/>
            <a:ext cx="985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21212"/>
                </a:solidFill>
                <a:latin typeface="Aptos Display"/>
                <a:ea typeface="Aptos Display"/>
                <a:cs typeface="Aptos Display"/>
              </a:defRPr>
            </a:pPr>
            <a:r>
              <a:rPr sz="3225" b="1">
                <a:solidFill>
                  <a:srgbClr val="121212"/>
                </a:solidFill>
                <a:latin typeface="Aptos Display"/>
                <a:ea typeface="Aptos Display"/>
                <a:cs typeface="Aptos Display"/>
              </a:rPr>
              <a:t>AI assistants optimize for answers.</a:t>
            </a:r>
          </a:p>
          <a:p xmlns:a="http://schemas.openxmlformats.org/drawingml/2006/main">
            <a:pPr>
              <a:defRPr sz="3225" b="1">
                <a:solidFill>
                  <a:srgbClr val="121212"/>
                </a:solidFill>
                <a:latin typeface="Aptos Display"/>
                <a:ea typeface="Aptos Display"/>
                <a:cs typeface="Aptos Display"/>
              </a:defRPr>
            </a:pPr>
            <a:r>
              <a:rPr sz="3225" b="1">
                <a:solidFill>
                  <a:srgbClr val="121212"/>
                </a:solidFill>
                <a:latin typeface="Aptos Display"/>
                <a:ea typeface="Aptos Display"/>
                <a:cs typeface="Aptos Display"/>
              </a:rPr>
              <a:t>Your judgment quietly disappears.</a:t>
            </a:r>
          </a:p>
        </p:txBody>
      </p:sp>
      <p:sp>
        <p:nvSpPr>
          <p:cNvPr id="3" name="">
            <a:extLst xmlns:a="http://schemas.openxmlformats.org/drawingml/2006/main">
              <a:ext uri="{FF2B5EF4-FFF2-40B4-BE49-F238E27FC236}">
                <a16:creationId xmlns:a16="http://schemas.microsoft.com/office/drawing/2014/main" id="{A0C0A917-011F-401B-9326-D7D10B991C18}"/>
              </a:ext>
            </a:extLst>
          </p:cNvPr>
          <p:cNvSpPr>
            <a:spLocks xmlns:a="http://schemas.openxmlformats.org/drawingml/2006/main" noGrp="1"/>
          </p:cNvSpPr>
          <p:nvPr/>
        </p:nvSpPr>
        <p:spPr>
          <a:xfrm xmlns:a="http://schemas.openxmlformats.org/drawingml/2006/main">
            <a:off x="685800" y="2114550"/>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A2A2A"/>
                </a:solidFill>
                <a:latin typeface="Aptos"/>
                <a:ea typeface="Aptos"/>
                <a:cs typeface="Aptos"/>
              </a:defRPr>
            </a:pPr>
            <a:r>
              <a:rPr sz="1650" b="0">
                <a:solidFill>
                  <a:srgbClr val="2A2A2A"/>
                </a:solidFill>
                <a:latin typeface="Aptos"/>
                <a:ea typeface="Aptos"/>
                <a:cs typeface="Aptos"/>
              </a:rPr>
              <a:t>Every effortless answer moves context into the model and practice out of the user.</a:t>
            </a:r>
          </a:p>
        </p:txBody>
      </p:sp>
      <p:sp>
        <p:nvSpPr>
          <p:cNvPr id="4" name="">
            <a:extLst xmlns:a="http://schemas.openxmlformats.org/drawingml/2006/main">
              <a:ext uri="{FF2B5EF4-FFF2-40B4-BE49-F238E27FC236}">
                <a16:creationId xmlns:a16="http://schemas.microsoft.com/office/drawing/2014/main" id="{9C2C795F-F62C-442C-93C1-E49A17F09EAB}"/>
              </a:ext>
            </a:extLst>
          </p:cNvPr>
          <p:cNvSpPr>
            <a:spLocks xmlns:a="http://schemas.openxmlformats.org/drawingml/2006/main" noGrp="1"/>
          </p:cNvSpPr>
          <p:nvPr/>
        </p:nvSpPr>
        <p:spPr>
          <a:xfrm xmlns:a="http://schemas.openxmlformats.org/drawingml/2006/main">
            <a:off x="685800" y="2876550"/>
            <a:ext cx="10820400" cy="0"/>
          </a:xfrm>
          <a:prstGeom xmlns:a="http://schemas.openxmlformats.org/drawingml/2006/main" prst="line">
            <a:avLst/>
          </a:prstGeom>
          <a:noFill xmlns:a="http://schemas.openxmlformats.org/drawingml/2006/main"/>
          <a:ln xmlns:a="http://schemas.openxmlformats.org/drawingml/2006/main" w="19050">
            <a:solidFill>
              <a:srgbClr val="E7E5E1"/>
            </a:solidFill>
          </a:ln>
        </p:spPr>
      </p:sp>
      <p:sp>
        <p:nvSpPr>
          <p:cNvPr id="5" name="">
            <a:extLst xmlns:a="http://schemas.openxmlformats.org/drawingml/2006/main">
              <a:ext uri="{FF2B5EF4-FFF2-40B4-BE49-F238E27FC236}">
                <a16:creationId xmlns:a16="http://schemas.microsoft.com/office/drawing/2014/main" id="{20369E31-C11E-4CBF-9A6D-D1FC7CCCB360}"/>
              </a:ext>
            </a:extLst>
          </p:cNvPr>
          <p:cNvSpPr>
            <a:spLocks xmlns:a="http://schemas.openxmlformats.org/drawingml/2006/main" noGrp="1"/>
          </p:cNvSpPr>
          <p:nvPr/>
        </p:nvSpPr>
        <p:spPr>
          <a:xfrm xmlns:a="http://schemas.openxmlformats.org/drawingml/2006/main">
            <a:off x="685800" y="32956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707070"/>
                </a:solidFill>
                <a:latin typeface="Aptos"/>
                <a:ea typeface="Aptos"/>
                <a:cs typeface="Aptos"/>
              </a:defRPr>
            </a:pPr>
            <a:r>
              <a:rPr sz="975" b="1">
                <a:solidFill>
                  <a:srgbClr val="707070"/>
                </a:solidFill>
                <a:latin typeface="Aptos"/>
                <a:ea typeface="Aptos"/>
                <a:cs typeface="Aptos"/>
              </a:rPr>
              <a:t>TODAY’S ASSISTANT</a:t>
            </a:r>
          </a:p>
        </p:txBody>
      </p:sp>
      <p:sp>
        <p:nvSpPr>
          <p:cNvPr id="6" name="">
            <a:extLst xmlns:a="http://schemas.openxmlformats.org/drawingml/2006/main">
              <a:ext uri="{FF2B5EF4-FFF2-40B4-BE49-F238E27FC236}">
                <a16:creationId xmlns:a16="http://schemas.microsoft.com/office/drawing/2014/main" id="{4ECA6A2F-57E9-465A-A5CD-3DDEF7EA1084}"/>
              </a:ext>
            </a:extLst>
          </p:cNvPr>
          <p:cNvSpPr>
            <a:spLocks xmlns:a="http://schemas.openxmlformats.org/drawingml/2006/main" noGrp="1"/>
          </p:cNvSpPr>
          <p:nvPr/>
        </p:nvSpPr>
        <p:spPr>
          <a:xfrm xmlns:a="http://schemas.openxmlformats.org/drawingml/2006/main">
            <a:off x="685800" y="3676650"/>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21212"/>
                </a:solidFill>
                <a:latin typeface="Aptos"/>
                <a:ea typeface="Aptos"/>
                <a:cs typeface="Aptos"/>
              </a:defRPr>
            </a:pPr>
            <a:r>
              <a:rPr sz="2325" b="1">
                <a:solidFill>
                  <a:srgbClr val="121212"/>
                </a:solidFill>
                <a:latin typeface="Aptos"/>
                <a:ea typeface="Aptos"/>
                <a:cs typeface="Aptos"/>
              </a:rPr>
              <a:t>Prompt</a:t>
            </a:r>
          </a:p>
          <a:p xmlns:a="http://schemas.openxmlformats.org/drawingml/2006/main">
            <a:pPr>
              <a:defRPr sz="2325" b="1">
                <a:solidFill>
                  <a:srgbClr val="121212"/>
                </a:solidFill>
                <a:latin typeface="Aptos"/>
                <a:ea typeface="Aptos"/>
                <a:cs typeface="Aptos"/>
              </a:defRPr>
            </a:pPr>
            <a:r>
              <a:rPr sz="2325" b="1">
                <a:solidFill>
                  <a:srgbClr val="121212"/>
                </a:solidFill>
                <a:latin typeface="Aptos"/>
                <a:ea typeface="Aptos"/>
                <a:cs typeface="Aptos"/>
              </a:rPr>
              <a:t>Answer</a:t>
            </a:r>
          </a:p>
          <a:p xmlns:a="http://schemas.openxmlformats.org/drawingml/2006/main">
            <a:pPr>
              <a:defRPr sz="2325" b="1">
                <a:solidFill>
                  <a:srgbClr val="121212"/>
                </a:solidFill>
                <a:latin typeface="Aptos"/>
                <a:ea typeface="Aptos"/>
                <a:cs typeface="Aptos"/>
              </a:defRPr>
            </a:pPr>
            <a:r>
              <a:rPr sz="2325" b="1">
                <a:solidFill>
                  <a:srgbClr val="121212"/>
                </a:solidFill>
                <a:latin typeface="Aptos"/>
                <a:ea typeface="Aptos"/>
                <a:cs typeface="Aptos"/>
              </a:rPr>
              <a:t>Act</a:t>
            </a:r>
          </a:p>
        </p:txBody>
      </p:sp>
      <p:sp>
        <p:nvSpPr>
          <p:cNvPr id="7" name="">
            <a:extLst xmlns:a="http://schemas.openxmlformats.org/drawingml/2006/main">
              <a:ext uri="{FF2B5EF4-FFF2-40B4-BE49-F238E27FC236}">
                <a16:creationId xmlns:a16="http://schemas.microsoft.com/office/drawing/2014/main" id="{8763703E-9DAF-4CD9-A548-ABCF1F00571D}"/>
              </a:ext>
            </a:extLst>
          </p:cNvPr>
          <p:cNvSpPr>
            <a:spLocks xmlns:a="http://schemas.openxmlformats.org/drawingml/2006/main" noGrp="1"/>
          </p:cNvSpPr>
          <p:nvPr/>
        </p:nvSpPr>
        <p:spPr>
          <a:xfrm xmlns:a="http://schemas.openxmlformats.org/drawingml/2006/main">
            <a:off x="3143250" y="3724275"/>
            <a:ext cx="285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707070"/>
                </a:solidFill>
                <a:latin typeface="Aptos"/>
                <a:ea typeface="Aptos"/>
                <a:cs typeface="Aptos"/>
              </a:defRPr>
            </a:pPr>
            <a:r>
              <a:rPr sz="1500" b="0">
                <a:solidFill>
                  <a:srgbClr val="707070"/>
                </a:solidFill>
                <a:latin typeface="Aptos"/>
                <a:ea typeface="Aptos"/>
                <a:cs typeface="Aptos"/>
              </a:rPr>
              <a:t>No commitment</a:t>
            </a:r>
          </a:p>
          <a:p xmlns:a="http://schemas.openxmlformats.org/drawingml/2006/main">
            <a:pPr>
              <a:defRPr sz="1500" b="0">
                <a:solidFill>
                  <a:srgbClr val="707070"/>
                </a:solidFill>
                <a:latin typeface="Aptos"/>
                <a:ea typeface="Aptos"/>
                <a:cs typeface="Aptos"/>
              </a:defRPr>
            </a:pPr>
            <a:r>
              <a:rPr sz="1500" b="0">
                <a:solidFill>
                  <a:srgbClr val="707070"/>
                </a:solidFill>
                <a:latin typeface="Aptos"/>
                <a:ea typeface="Aptos"/>
                <a:cs typeface="Aptos"/>
              </a:rPr>
              <a:t>No track record</a:t>
            </a:r>
          </a:p>
          <a:p xmlns:a="http://schemas.openxmlformats.org/drawingml/2006/main">
            <a:pPr>
              <a:defRPr sz="1500" b="0">
                <a:solidFill>
                  <a:srgbClr val="707070"/>
                </a:solidFill>
                <a:latin typeface="Aptos"/>
                <a:ea typeface="Aptos"/>
                <a:cs typeface="Aptos"/>
              </a:defRPr>
            </a:pPr>
            <a:r>
              <a:rPr sz="1500" b="0">
                <a:solidFill>
                  <a:srgbClr val="707070"/>
                </a:solidFill>
                <a:latin typeface="Aptos"/>
                <a:ea typeface="Aptos"/>
                <a:cs typeface="Aptos"/>
              </a:rPr>
              <a:t>No learning loop</a:t>
            </a:r>
          </a:p>
        </p:txBody>
      </p:sp>
      <p:sp>
        <p:nvSpPr>
          <p:cNvPr id="8" name="">
            <a:extLst xmlns:a="http://schemas.openxmlformats.org/drawingml/2006/main">
              <a:ext uri="{FF2B5EF4-FFF2-40B4-BE49-F238E27FC236}">
                <a16:creationId xmlns:a16="http://schemas.microsoft.com/office/drawing/2014/main" id="{57F64A79-B24A-4EC9-8C4C-8C91E426BBF9}"/>
              </a:ext>
            </a:extLst>
          </p:cNvPr>
          <p:cNvSpPr>
            <a:spLocks xmlns:a="http://schemas.openxmlformats.org/drawingml/2006/main" noGrp="1"/>
          </p:cNvSpPr>
          <p:nvPr/>
        </p:nvSpPr>
        <p:spPr>
          <a:xfrm xmlns:a="http://schemas.openxmlformats.org/drawingml/2006/main">
            <a:off x="6486525" y="3181350"/>
            <a:ext cx="19050" cy="2000250"/>
          </a:xfrm>
          <a:prstGeom xmlns:a="http://schemas.openxmlformats.org/drawingml/2006/main" prst="rect">
            <a:avLst/>
          </a:prstGeom>
          <a:solidFill xmlns:a="http://schemas.openxmlformats.org/drawingml/2006/main">
            <a:srgbClr val="E43A2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D7864C7-A9B8-4B3F-90A4-EAA125950A14}"/>
              </a:ext>
            </a:extLst>
          </p:cNvPr>
          <p:cNvSpPr>
            <a:spLocks xmlns:a="http://schemas.openxmlformats.org/drawingml/2006/main" noGrp="1"/>
          </p:cNvSpPr>
          <p:nvPr/>
        </p:nvSpPr>
        <p:spPr>
          <a:xfrm xmlns:a="http://schemas.openxmlformats.org/drawingml/2006/main">
            <a:off x="6943725" y="32956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E43A26"/>
                </a:solidFill>
                <a:latin typeface="Aptos"/>
                <a:ea typeface="Aptos"/>
                <a:cs typeface="Aptos"/>
              </a:defRPr>
            </a:pPr>
            <a:r>
              <a:rPr sz="975" b="1">
                <a:solidFill>
                  <a:srgbClr val="E43A26"/>
                </a:solidFill>
                <a:latin typeface="Aptos"/>
                <a:ea typeface="Aptos"/>
                <a:cs typeface="Aptos"/>
              </a:rPr>
              <a:t>WHAT GOES MISSING</a:t>
            </a:r>
          </a:p>
        </p:txBody>
      </p:sp>
      <p:sp>
        <p:nvSpPr>
          <p:cNvPr id="10" name="">
            <a:extLst xmlns:a="http://schemas.openxmlformats.org/drawingml/2006/main">
              <a:ext uri="{FF2B5EF4-FFF2-40B4-BE49-F238E27FC236}">
                <a16:creationId xmlns:a16="http://schemas.microsoft.com/office/drawing/2014/main" id="{8EF9EE01-78A5-484C-9E27-31FDC6B47A9C}"/>
              </a:ext>
            </a:extLst>
          </p:cNvPr>
          <p:cNvSpPr>
            <a:spLocks xmlns:a="http://schemas.openxmlformats.org/drawingml/2006/main" noGrp="1"/>
          </p:cNvSpPr>
          <p:nvPr/>
        </p:nvSpPr>
        <p:spPr>
          <a:xfrm xmlns:a="http://schemas.openxmlformats.org/drawingml/2006/main">
            <a:off x="6943725" y="3676650"/>
            <a:ext cx="4524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21212"/>
                </a:solidFill>
                <a:latin typeface="Aptos"/>
                <a:ea typeface="Aptos"/>
                <a:cs typeface="Aptos"/>
              </a:defRPr>
            </a:pPr>
            <a:r>
              <a:rPr sz="1875" b="1">
                <a:solidFill>
                  <a:srgbClr val="121212"/>
                </a:solidFill>
                <a:latin typeface="Aptos"/>
                <a:ea typeface="Aptos"/>
                <a:cs typeface="Aptos"/>
              </a:rPr>
              <a:t>Did I understand it?</a:t>
            </a:r>
          </a:p>
          <a:p xmlns:a="http://schemas.openxmlformats.org/drawingml/2006/main">
            <a:pPr>
              <a:defRPr sz="1875" b="1">
                <a:solidFill>
                  <a:srgbClr val="121212"/>
                </a:solidFill>
                <a:latin typeface="Aptos"/>
                <a:ea typeface="Aptos"/>
                <a:cs typeface="Aptos"/>
              </a:defRPr>
            </a:pPr>
            <a:r>
              <a:rPr sz="1875" b="1">
                <a:solidFill>
                  <a:srgbClr val="121212"/>
                </a:solidFill>
                <a:latin typeface="Aptos"/>
                <a:ea typeface="Aptos"/>
                <a:cs typeface="Aptos"/>
              </a:rPr>
              <a:t>What would change my mind?</a:t>
            </a:r>
          </a:p>
          <a:p xmlns:a="http://schemas.openxmlformats.org/drawingml/2006/main">
            <a:pPr>
              <a:defRPr sz="1875" b="1">
                <a:solidFill>
                  <a:srgbClr val="121212"/>
                </a:solidFill>
                <a:latin typeface="Aptos"/>
                <a:ea typeface="Aptos"/>
                <a:cs typeface="Aptos"/>
              </a:defRPr>
            </a:pPr>
            <a:r>
              <a:rPr sz="1875" b="1">
                <a:solidFill>
                  <a:srgbClr val="121212"/>
                </a:solidFill>
                <a:latin typeface="Aptos"/>
                <a:ea typeface="Aptos"/>
                <a:cs typeface="Aptos"/>
              </a:rPr>
              <a:t>How calibrated am I here?</a:t>
            </a:r>
          </a:p>
          <a:p xmlns:a="http://schemas.openxmlformats.org/drawingml/2006/main">
            <a:pPr>
              <a:defRPr sz="1875" b="1">
                <a:solidFill>
                  <a:srgbClr val="121212"/>
                </a:solidFill>
                <a:latin typeface="Aptos"/>
                <a:ea typeface="Aptos"/>
                <a:cs typeface="Aptos"/>
              </a:defRPr>
            </a:pPr>
            <a:r>
              <a:rPr sz="1875" b="1">
                <a:solidFill>
                  <a:srgbClr val="121212"/>
                </a:solidFill>
                <a:latin typeface="Aptos"/>
                <a:ea typeface="Aptos"/>
                <a:cs typeface="Aptos"/>
              </a:rPr>
              <a:t>Does this deserve attention now?</a:t>
            </a:r>
          </a:p>
        </p:txBody>
      </p:sp>
      <p:sp>
        <p:nvSpPr>
          <p:cNvPr id="11" name="">
            <a:extLst xmlns:a="http://schemas.openxmlformats.org/drawingml/2006/main">
              <a:ext uri="{FF2B5EF4-FFF2-40B4-BE49-F238E27FC236}">
                <a16:creationId xmlns:a16="http://schemas.microsoft.com/office/drawing/2014/main" id="{09A929C1-614E-435A-A08D-4F4317264DB8}"/>
              </a:ext>
            </a:extLst>
          </p:cNvPr>
          <p:cNvSpPr>
            <a:spLocks xmlns:a="http://schemas.openxmlformats.org/drawingml/2006/main" noGrp="1"/>
          </p:cNvSpPr>
          <p:nvPr/>
        </p:nvSpPr>
        <p:spPr>
          <a:xfrm xmlns:a="http://schemas.openxmlformats.org/drawingml/2006/main">
            <a:off x="685800" y="5715000"/>
            <a:ext cx="10820400" cy="0"/>
          </a:xfrm>
          <a:prstGeom xmlns:a="http://schemas.openxmlformats.org/drawingml/2006/main" prst="line">
            <a:avLst/>
          </a:prstGeom>
          <a:noFill xmlns:a="http://schemas.openxmlformats.org/drawingml/2006/main"/>
          <a:ln xmlns:a="http://schemas.openxmlformats.org/drawingml/2006/main" w="19050">
            <a:solidFill>
              <a:srgbClr val="E7E5E1"/>
            </a:solidFill>
          </a:ln>
        </p:spPr>
      </p:sp>
      <p:sp>
        <p:nvSpPr>
          <p:cNvPr id="12" name="">
            <a:extLst xmlns:a="http://schemas.openxmlformats.org/drawingml/2006/main">
              <a:ext uri="{FF2B5EF4-FFF2-40B4-BE49-F238E27FC236}">
                <a16:creationId xmlns:a16="http://schemas.microsoft.com/office/drawing/2014/main" id="{05DE2ECD-172A-408B-B23F-DEBF467C2AE9}"/>
              </a:ext>
            </a:extLst>
          </p:cNvPr>
          <p:cNvSpPr>
            <a:spLocks xmlns:a="http://schemas.openxmlformats.org/drawingml/2006/main" noGrp="1"/>
          </p:cNvSpPr>
          <p:nvPr/>
        </p:nvSpPr>
        <p:spPr>
          <a:xfrm xmlns:a="http://schemas.openxmlformats.org/drawingml/2006/main">
            <a:off x="685800" y="59436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121212"/>
                </a:solidFill>
                <a:latin typeface="Aptos"/>
                <a:ea typeface="Aptos"/>
                <a:cs typeface="Aptos"/>
              </a:defRPr>
            </a:pPr>
            <a:r>
              <a:rPr sz="1500" b="1">
                <a:solidFill>
                  <a:srgbClr val="121212"/>
                </a:solidFill>
                <a:latin typeface="Aptos"/>
                <a:ea typeface="Aptos"/>
                <a:cs typeface="Aptos"/>
              </a:rPr>
              <a:t>The scarce resource is decision quality, not answer speed.</a:t>
            </a:r>
          </a:p>
        </p:txBody>
      </p:sp>
      <p:sp>
        <p:nvSpPr>
          <p:cNvPr id="13" name="">
            <a:extLst xmlns:a="http://schemas.openxmlformats.org/drawingml/2006/main">
              <a:ext uri="{FF2B5EF4-FFF2-40B4-BE49-F238E27FC236}">
                <a16:creationId xmlns:a16="http://schemas.microsoft.com/office/drawing/2014/main" id="{A5C676FC-F7CF-4561-863B-EE55C01E9D1E}"/>
              </a:ext>
            </a:extLst>
          </p:cNvPr>
          <p:cNvSpPr>
            <a:spLocks xmlns:a="http://schemas.openxmlformats.org/drawingml/2006/main" noGrp="1"/>
          </p:cNvSpPr>
          <p:nvPr/>
        </p:nvSpPr>
        <p:spPr>
          <a:xfrm xmlns:a="http://schemas.openxmlformats.org/drawingml/2006/main">
            <a:off x="11277600" y="6486525"/>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50" b="0">
                <a:solidFill>
                  <a:srgbClr val="B9B9B9"/>
                </a:solidFill>
                <a:latin typeface="Aptos"/>
                <a:ea typeface="Aptos"/>
                <a:cs typeface="Aptos"/>
              </a:defRPr>
            </a:pPr>
            <a:r>
              <a:rPr sz="750" b="0">
                <a:solidFill>
                  <a:srgbClr val="B9B9B9"/>
                </a:solidFill>
                <a:latin typeface="Aptos"/>
                <a:ea typeface="Aptos"/>
                <a:cs typeface="Aptos"/>
              </a:rPr>
              <a:t>2/5</a:t>
            </a:r>
          </a:p>
        </p:txBody>
      </p:sp>
    </p:spTree>
    <p:extLst>
      <p:ext uri="{BB962C8B-B14F-4D97-AF65-F5344CB8AC3E}">
        <p14:creationId xmlns:p14="http://schemas.microsoft.com/office/powerpoint/2010/main" val="6852222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13D1F13-89FF-43C7-81AB-DD163D07F8AE}"/>
              </a:ext>
            </a:extLst>
          </p:cNvPr>
          <p:cNvSpPr>
            <a:spLocks xmlns:a="http://schemas.openxmlformats.org/drawingml/2006/main" noGrp="1"/>
          </p:cNvSpPr>
          <p:nvPr/>
        </p:nvSpPr>
        <p:spPr>
          <a:xfrm xmlns:a="http://schemas.openxmlformats.org/drawingml/2006/main">
            <a:off x="685800" y="4762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1">
                <a:solidFill>
                  <a:srgbClr val="E43A26"/>
                </a:solidFill>
                <a:latin typeface="Aptos"/>
                <a:ea typeface="Aptos"/>
                <a:cs typeface="Aptos"/>
              </a:defRPr>
            </a:pPr>
            <a:r>
              <a:rPr sz="1050" b="1">
                <a:solidFill>
                  <a:srgbClr val="E43A26"/>
                </a:solidFill>
                <a:latin typeface="Aptos"/>
                <a:ea typeface="Aptos"/>
                <a:cs typeface="Aptos"/>
              </a:rPr>
              <a:t>THE PRODUCT</a:t>
            </a:r>
          </a:p>
        </p:txBody>
      </p:sp>
      <p:sp>
        <p:nvSpPr>
          <p:cNvPr id="2" name="">
            <a:extLst xmlns:a="http://schemas.openxmlformats.org/drawingml/2006/main">
              <a:ext uri="{FF2B5EF4-FFF2-40B4-BE49-F238E27FC236}">
                <a16:creationId xmlns:a16="http://schemas.microsoft.com/office/drawing/2014/main" id="{9F62422C-2A27-4AE3-BF7F-8C296BBAA48B}"/>
              </a:ext>
            </a:extLst>
          </p:cNvPr>
          <p:cNvSpPr>
            <a:spLocks xmlns:a="http://schemas.openxmlformats.org/drawingml/2006/main" noGrp="1"/>
          </p:cNvSpPr>
          <p:nvPr/>
        </p:nvSpPr>
        <p:spPr>
          <a:xfrm xmlns:a="http://schemas.openxmlformats.org/drawingml/2006/main">
            <a:off x="685800" y="895350"/>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75" b="1">
                <a:solidFill>
                  <a:srgbClr val="121212"/>
                </a:solidFill>
                <a:latin typeface="Aptos Display"/>
                <a:ea typeface="Aptos Display"/>
                <a:cs typeface="Aptos Display"/>
              </a:defRPr>
            </a:pPr>
            <a:r>
              <a:rPr sz="3075" b="1">
                <a:solidFill>
                  <a:srgbClr val="121212"/>
                </a:solidFill>
                <a:latin typeface="Aptos Display"/>
                <a:ea typeface="Aptos Display"/>
                <a:cs typeface="Aptos Display"/>
              </a:rPr>
              <a:t>An AI OS that carries context.</a:t>
            </a:r>
          </a:p>
          <a:p xmlns:a="http://schemas.openxmlformats.org/drawingml/2006/main">
            <a:pPr>
              <a:defRPr sz="3075" b="1">
                <a:solidFill>
                  <a:srgbClr val="121212"/>
                </a:solidFill>
                <a:latin typeface="Aptos Display"/>
                <a:ea typeface="Aptos Display"/>
                <a:cs typeface="Aptos Display"/>
              </a:defRPr>
            </a:pPr>
            <a:r>
              <a:rPr sz="3075" b="1">
                <a:solidFill>
                  <a:srgbClr val="121212"/>
                </a:solidFill>
                <a:latin typeface="Aptos Display"/>
                <a:ea typeface="Aptos Display"/>
                <a:cs typeface="Aptos Display"/>
              </a:rPr>
              <a:t>A judgment gate when the moment matters.</a:t>
            </a:r>
          </a:p>
        </p:txBody>
      </p:sp>
      <p:sp>
        <p:nvSpPr>
          <p:cNvPr id="3" name="">
            <a:extLst xmlns:a="http://schemas.openxmlformats.org/drawingml/2006/main">
              <a:ext uri="{FF2B5EF4-FFF2-40B4-BE49-F238E27FC236}">
                <a16:creationId xmlns:a16="http://schemas.microsoft.com/office/drawing/2014/main" id="{F29C58A4-C376-48B0-B1AD-A89AF063B16D}"/>
              </a:ext>
            </a:extLst>
          </p:cNvPr>
          <p:cNvSpPr>
            <a:spLocks xmlns:a="http://schemas.openxmlformats.org/drawingml/2006/main" noGrp="1"/>
          </p:cNvSpPr>
          <p:nvPr/>
        </p:nvSpPr>
        <p:spPr>
          <a:xfrm xmlns:a="http://schemas.openxmlformats.org/drawingml/2006/main">
            <a:off x="685800" y="22860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1">
                <a:solidFill>
                  <a:srgbClr val="E43A26"/>
                </a:solidFill>
                <a:latin typeface="Aptos"/>
                <a:ea typeface="Aptos"/>
                <a:cs typeface="Aptos"/>
              </a:defRPr>
            </a:pPr>
            <a:r>
              <a:rPr sz="1050" b="1">
                <a:solidFill>
                  <a:srgbClr val="E43A26"/>
                </a:solidFill>
                <a:latin typeface="Aptos"/>
                <a:ea typeface="Aptos"/>
                <a:cs typeface="Aptos"/>
              </a:rPr>
              <a:t>1  CONTEXT</a:t>
            </a:r>
          </a:p>
        </p:txBody>
      </p:sp>
      <p:sp>
        <p:nvSpPr>
          <p:cNvPr id="4" name="">
            <a:extLst xmlns:a="http://schemas.openxmlformats.org/drawingml/2006/main">
              <a:ext uri="{FF2B5EF4-FFF2-40B4-BE49-F238E27FC236}">
                <a16:creationId xmlns:a16="http://schemas.microsoft.com/office/drawing/2014/main" id="{E06D58A1-3928-41AF-83B0-B57EB11526A7}"/>
              </a:ext>
            </a:extLst>
          </p:cNvPr>
          <p:cNvSpPr>
            <a:spLocks xmlns:a="http://schemas.openxmlformats.org/drawingml/2006/main" noGrp="1"/>
          </p:cNvSpPr>
          <p:nvPr/>
        </p:nvSpPr>
        <p:spPr>
          <a:xfrm xmlns:a="http://schemas.openxmlformats.org/drawingml/2006/main">
            <a:off x="685800" y="2647950"/>
            <a:ext cx="297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121212"/>
                </a:solidFill>
                <a:latin typeface="Aptos"/>
                <a:ea typeface="Aptos"/>
                <a:cs typeface="Aptos"/>
              </a:defRPr>
            </a:pPr>
            <a:r>
              <a:rPr sz="1650" b="1">
                <a:solidFill>
                  <a:srgbClr val="121212"/>
                </a:solidFill>
                <a:latin typeface="Aptos"/>
                <a:ea typeface="Aptos"/>
                <a:cs typeface="Aptos"/>
              </a:rPr>
              <a:t>Goals and priorities</a:t>
            </a:r>
          </a:p>
          <a:p xmlns:a="http://schemas.openxmlformats.org/drawingml/2006/main">
            <a:pPr>
              <a:defRPr sz="1650" b="1">
                <a:solidFill>
                  <a:srgbClr val="121212"/>
                </a:solidFill>
                <a:latin typeface="Aptos"/>
                <a:ea typeface="Aptos"/>
                <a:cs typeface="Aptos"/>
              </a:defRPr>
            </a:pPr>
            <a:r>
              <a:rPr sz="1650" b="1">
                <a:solidFill>
                  <a:srgbClr val="121212"/>
                </a:solidFill>
                <a:latin typeface="Aptos"/>
                <a:ea typeface="Aptos"/>
                <a:cs typeface="Aptos"/>
              </a:rPr>
              <a:t>Notes, tasks, knowledge</a:t>
            </a:r>
          </a:p>
          <a:p xmlns:a="http://schemas.openxmlformats.org/drawingml/2006/main">
            <a:pPr>
              <a:defRPr sz="1650" b="1">
                <a:solidFill>
                  <a:srgbClr val="121212"/>
                </a:solidFill>
                <a:latin typeface="Aptos"/>
                <a:ea typeface="Aptos"/>
                <a:cs typeface="Aptos"/>
              </a:defRPr>
            </a:pPr>
            <a:r>
              <a:rPr sz="1650" b="1">
                <a:solidFill>
                  <a:srgbClr val="121212"/>
                </a:solidFill>
                <a:latin typeface="Aptos"/>
                <a:ea typeface="Aptos"/>
                <a:cs typeface="Aptos"/>
              </a:rPr>
              <a:t>Open loops and recurring work</a:t>
            </a:r>
          </a:p>
        </p:txBody>
      </p:sp>
      <p:sp>
        <p:nvSpPr>
          <p:cNvPr id="5" name="">
            <a:extLst xmlns:a="http://schemas.openxmlformats.org/drawingml/2006/main">
              <a:ext uri="{FF2B5EF4-FFF2-40B4-BE49-F238E27FC236}">
                <a16:creationId xmlns:a16="http://schemas.microsoft.com/office/drawing/2014/main" id="{E283CB3C-2D5B-4D32-9A57-95AEE5806BD0}"/>
              </a:ext>
            </a:extLst>
          </p:cNvPr>
          <p:cNvSpPr>
            <a:spLocks xmlns:a="http://schemas.openxmlformats.org/drawingml/2006/main" noGrp="1"/>
          </p:cNvSpPr>
          <p:nvPr/>
        </p:nvSpPr>
        <p:spPr>
          <a:xfrm xmlns:a="http://schemas.openxmlformats.org/drawingml/2006/main">
            <a:off x="685800" y="3943350"/>
            <a:ext cx="2895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707070"/>
                </a:solidFill>
                <a:latin typeface="Aptos"/>
                <a:ea typeface="Aptos"/>
                <a:cs typeface="Aptos"/>
              </a:defRPr>
            </a:pPr>
            <a:r>
              <a:rPr sz="1275" b="0">
                <a:solidFill>
                  <a:srgbClr val="707070"/>
                </a:solidFill>
                <a:latin typeface="Aptos"/>
                <a:ea typeface="Aptos"/>
                <a:cs typeface="Aptos"/>
              </a:rPr>
              <a:t>Retrieves what matters and resurfaces unfinished decisions.</a:t>
            </a:r>
          </a:p>
        </p:txBody>
      </p:sp>
      <p:sp>
        <p:nvSpPr>
          <p:cNvPr id="6" name="">
            <a:extLst xmlns:a="http://schemas.openxmlformats.org/drawingml/2006/main">
              <a:ext uri="{FF2B5EF4-FFF2-40B4-BE49-F238E27FC236}">
                <a16:creationId xmlns:a16="http://schemas.microsoft.com/office/drawing/2014/main" id="{624614D1-C9F2-4C94-9DC9-E9595C79F73C}"/>
              </a:ext>
            </a:extLst>
          </p:cNvPr>
          <p:cNvSpPr>
            <a:spLocks xmlns:a="http://schemas.openxmlformats.org/drawingml/2006/main" noGrp="1"/>
          </p:cNvSpPr>
          <p:nvPr/>
        </p:nvSpPr>
        <p:spPr>
          <a:xfrm xmlns:a="http://schemas.openxmlformats.org/drawingml/2006/main">
            <a:off x="4038600" y="2209800"/>
            <a:ext cx="0" cy="2743200"/>
          </a:xfrm>
          <a:prstGeom xmlns:a="http://schemas.openxmlformats.org/drawingml/2006/main" prst="line">
            <a:avLst/>
          </a:prstGeom>
          <a:noFill xmlns:a="http://schemas.openxmlformats.org/drawingml/2006/main"/>
          <a:ln xmlns:a="http://schemas.openxmlformats.org/drawingml/2006/main" w="19050">
            <a:solidFill>
              <a:srgbClr val="E7E5E1"/>
            </a:solidFill>
          </a:ln>
        </p:spPr>
      </p:sp>
      <p:sp>
        <p:nvSpPr>
          <p:cNvPr id="7" name="">
            <a:extLst xmlns:a="http://schemas.openxmlformats.org/drawingml/2006/main">
              <a:ext uri="{FF2B5EF4-FFF2-40B4-BE49-F238E27FC236}">
                <a16:creationId xmlns:a16="http://schemas.microsoft.com/office/drawing/2014/main" id="{BD1E4BE2-D77A-4119-93F4-D98D0187E87A}"/>
              </a:ext>
            </a:extLst>
          </p:cNvPr>
          <p:cNvSpPr>
            <a:spLocks xmlns:a="http://schemas.openxmlformats.org/drawingml/2006/main" noGrp="1"/>
          </p:cNvSpPr>
          <p:nvPr/>
        </p:nvSpPr>
        <p:spPr>
          <a:xfrm xmlns:a="http://schemas.openxmlformats.org/drawingml/2006/main">
            <a:off x="4419600" y="22860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1">
                <a:solidFill>
                  <a:srgbClr val="E43A26"/>
                </a:solidFill>
                <a:latin typeface="Aptos"/>
                <a:ea typeface="Aptos"/>
                <a:cs typeface="Aptos"/>
              </a:defRPr>
            </a:pPr>
            <a:r>
              <a:rPr sz="1050" b="1">
                <a:solidFill>
                  <a:srgbClr val="E43A26"/>
                </a:solidFill>
                <a:latin typeface="Aptos"/>
                <a:ea typeface="Aptos"/>
                <a:cs typeface="Aptos"/>
              </a:rPr>
              <a:t>2  GATE</a:t>
            </a:r>
          </a:p>
        </p:txBody>
      </p:sp>
      <p:sp>
        <p:nvSpPr>
          <p:cNvPr id="8" name="">
            <a:extLst xmlns:a="http://schemas.openxmlformats.org/drawingml/2006/main">
              <a:ext uri="{FF2B5EF4-FFF2-40B4-BE49-F238E27FC236}">
                <a16:creationId xmlns:a16="http://schemas.microsoft.com/office/drawing/2014/main" id="{DE9D197A-F45B-4A18-B869-1FCE0B640FA9}"/>
              </a:ext>
            </a:extLst>
          </p:cNvPr>
          <p:cNvSpPr>
            <a:spLocks xmlns:a="http://schemas.openxmlformats.org/drawingml/2006/main" noGrp="1"/>
          </p:cNvSpPr>
          <p:nvPr/>
        </p:nvSpPr>
        <p:spPr>
          <a:xfrm xmlns:a="http://schemas.openxmlformats.org/drawingml/2006/main">
            <a:off x="4419600" y="2667000"/>
            <a:ext cx="2990850" cy="866775"/>
          </a:xfrm>
          <a:prstGeom xmlns:a="http://schemas.openxmlformats.org/drawingml/2006/main" prst="roundRect">
            <a:avLst>
              <a:gd name="adj" fmla="val 8791"/>
            </a:avLst>
          </a:prstGeom>
          <a:solidFill xmlns:a="http://schemas.openxmlformats.org/drawingml/2006/main">
            <a:srgbClr val="12121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661EBDC-848D-498C-A4C2-64E7A0424947}"/>
              </a:ext>
            </a:extLst>
          </p:cNvPr>
          <p:cNvSpPr>
            <a:spLocks xmlns:a="http://schemas.openxmlformats.org/drawingml/2006/main" noGrp="1"/>
          </p:cNvSpPr>
          <p:nvPr/>
        </p:nvSpPr>
        <p:spPr>
          <a:xfrm xmlns:a="http://schemas.openxmlformats.org/drawingml/2006/main">
            <a:off x="4629150" y="281940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FFFFFF"/>
                </a:solidFill>
                <a:latin typeface="Aptos"/>
                <a:ea typeface="Aptos"/>
                <a:cs typeface="Aptos"/>
              </a:defRPr>
            </a:pPr>
            <a:r>
              <a:rPr sz="1650" b="1">
                <a:solidFill>
                  <a:srgbClr val="FFFFFF"/>
                </a:solidFill>
                <a:latin typeface="Aptos"/>
                <a:ea typeface="Aptos"/>
                <a:cs typeface="Aptos"/>
              </a:rPr>
              <a:t>Your claim</a:t>
            </a:r>
          </a:p>
          <a:p xmlns:a="http://schemas.openxmlformats.org/drawingml/2006/main">
            <a:pPr>
              <a:defRPr sz="1650" b="1">
                <a:solidFill>
                  <a:srgbClr val="FFFFFF"/>
                </a:solidFill>
                <a:latin typeface="Aptos"/>
                <a:ea typeface="Aptos"/>
                <a:cs typeface="Aptos"/>
              </a:defRPr>
            </a:pPr>
            <a:r>
              <a:rPr sz="1650" b="1">
                <a:solidFill>
                  <a:srgbClr val="FFFFFF"/>
                </a:solidFill>
                <a:latin typeface="Aptos"/>
                <a:ea typeface="Aptos"/>
                <a:cs typeface="Aptos"/>
              </a:rPr>
              <a:t>confidence + reasoning</a:t>
            </a:r>
          </a:p>
        </p:txBody>
      </p:sp>
      <p:sp>
        <p:nvSpPr>
          <p:cNvPr id="10" name="">
            <a:extLst xmlns:a="http://schemas.openxmlformats.org/drawingml/2006/main">
              <a:ext uri="{FF2B5EF4-FFF2-40B4-BE49-F238E27FC236}">
                <a16:creationId xmlns:a16="http://schemas.microsoft.com/office/drawing/2014/main" id="{9DE899DA-A97E-4562-BDDE-A7E211FE2C76}"/>
              </a:ext>
            </a:extLst>
          </p:cNvPr>
          <p:cNvSpPr>
            <a:spLocks xmlns:a="http://schemas.openxmlformats.org/drawingml/2006/main" noGrp="1"/>
          </p:cNvSpPr>
          <p:nvPr/>
        </p:nvSpPr>
        <p:spPr>
          <a:xfrm xmlns:a="http://schemas.openxmlformats.org/drawingml/2006/main">
            <a:off x="4419600" y="3781425"/>
            <a:ext cx="299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07070"/>
                </a:solidFill>
                <a:latin typeface="Aptos"/>
                <a:ea typeface="Aptos"/>
                <a:cs typeface="Aptos"/>
              </a:defRPr>
            </a:pPr>
            <a:r>
              <a:rPr sz="1350" b="0">
                <a:solidFill>
                  <a:srgbClr val="707070"/>
                </a:solidFill>
                <a:latin typeface="Aptos"/>
                <a:ea typeface="Aptos"/>
                <a:cs typeface="Aptos"/>
              </a:rPr>
              <a:t>The system detects a decision-shaped moment. Assistance waits until you commit.</a:t>
            </a:r>
          </a:p>
        </p:txBody>
      </p:sp>
      <p:sp>
        <p:nvSpPr>
          <p:cNvPr id="11" name="">
            <a:extLst xmlns:a="http://schemas.openxmlformats.org/drawingml/2006/main">
              <a:ext uri="{FF2B5EF4-FFF2-40B4-BE49-F238E27FC236}">
                <a16:creationId xmlns:a16="http://schemas.microsoft.com/office/drawing/2014/main" id="{04F1A84A-29F9-4837-94A3-F591C0491D64}"/>
              </a:ext>
            </a:extLst>
          </p:cNvPr>
          <p:cNvSpPr>
            <a:spLocks xmlns:a="http://schemas.openxmlformats.org/drawingml/2006/main" noGrp="1"/>
          </p:cNvSpPr>
          <p:nvPr/>
        </p:nvSpPr>
        <p:spPr>
          <a:xfrm xmlns:a="http://schemas.openxmlformats.org/drawingml/2006/main">
            <a:off x="7791450" y="2209800"/>
            <a:ext cx="0" cy="2743200"/>
          </a:xfrm>
          <a:prstGeom xmlns:a="http://schemas.openxmlformats.org/drawingml/2006/main" prst="line">
            <a:avLst/>
          </a:prstGeom>
          <a:noFill xmlns:a="http://schemas.openxmlformats.org/drawingml/2006/main"/>
          <a:ln xmlns:a="http://schemas.openxmlformats.org/drawingml/2006/main" w="19050">
            <a:solidFill>
              <a:srgbClr val="E7E5E1"/>
            </a:solidFill>
          </a:ln>
        </p:spPr>
      </p:sp>
      <p:sp>
        <p:nvSpPr>
          <p:cNvPr id="12" name="">
            <a:extLst xmlns:a="http://schemas.openxmlformats.org/drawingml/2006/main">
              <a:ext uri="{FF2B5EF4-FFF2-40B4-BE49-F238E27FC236}">
                <a16:creationId xmlns:a16="http://schemas.microsoft.com/office/drawing/2014/main" id="{9F9590F4-3CE0-4C65-88A6-96EC3ECFBE0B}"/>
              </a:ext>
            </a:extLst>
          </p:cNvPr>
          <p:cNvSpPr>
            <a:spLocks xmlns:a="http://schemas.openxmlformats.org/drawingml/2006/main" noGrp="1"/>
          </p:cNvSpPr>
          <p:nvPr/>
        </p:nvSpPr>
        <p:spPr>
          <a:xfrm xmlns:a="http://schemas.openxmlformats.org/drawingml/2006/main">
            <a:off x="8172450" y="22860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1">
                <a:solidFill>
                  <a:srgbClr val="E43A26"/>
                </a:solidFill>
                <a:latin typeface="Aptos"/>
                <a:ea typeface="Aptos"/>
                <a:cs typeface="Aptos"/>
              </a:defRPr>
            </a:pPr>
            <a:r>
              <a:rPr sz="1050" b="1">
                <a:solidFill>
                  <a:srgbClr val="E43A26"/>
                </a:solidFill>
                <a:latin typeface="Aptos"/>
                <a:ea typeface="Aptos"/>
                <a:cs typeface="Aptos"/>
              </a:rPr>
              <a:t>3  CHECK + LEARN</a:t>
            </a:r>
          </a:p>
        </p:txBody>
      </p:sp>
      <p:sp>
        <p:nvSpPr>
          <p:cNvPr id="13" name="">
            <a:extLst xmlns:a="http://schemas.openxmlformats.org/drawingml/2006/main">
              <a:ext uri="{FF2B5EF4-FFF2-40B4-BE49-F238E27FC236}">
                <a16:creationId xmlns:a16="http://schemas.microsoft.com/office/drawing/2014/main" id="{98A25342-2C51-4D4E-9278-475EB10917FF}"/>
              </a:ext>
            </a:extLst>
          </p:cNvPr>
          <p:cNvSpPr>
            <a:spLocks xmlns:a="http://schemas.openxmlformats.org/drawingml/2006/main" noGrp="1"/>
          </p:cNvSpPr>
          <p:nvPr/>
        </p:nvSpPr>
        <p:spPr>
          <a:xfrm xmlns:a="http://schemas.openxmlformats.org/drawingml/2006/main">
            <a:off x="8172450" y="2647950"/>
            <a:ext cx="32385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121212"/>
                </a:solidFill>
                <a:latin typeface="Aptos"/>
                <a:ea typeface="Aptos"/>
                <a:cs typeface="Aptos"/>
              </a:defRPr>
            </a:pPr>
            <a:r>
              <a:rPr sz="1650" b="1">
                <a:solidFill>
                  <a:srgbClr val="121212"/>
                </a:solidFill>
                <a:latin typeface="Aptos"/>
                <a:ea typeface="Aptos"/>
                <a:cs typeface="Aptos"/>
              </a:rPr>
              <a:t>Verify facts</a:t>
            </a:r>
          </a:p>
          <a:p xmlns:a="http://schemas.openxmlformats.org/drawingml/2006/main">
            <a:pPr>
              <a:defRPr sz="1650" b="1">
                <a:solidFill>
                  <a:srgbClr val="121212"/>
                </a:solidFill>
                <a:latin typeface="Aptos"/>
                <a:ea typeface="Aptos"/>
                <a:cs typeface="Aptos"/>
              </a:defRPr>
            </a:pPr>
            <a:r>
              <a:rPr sz="1650" b="1">
                <a:solidFill>
                  <a:srgbClr val="121212"/>
                </a:solidFill>
                <a:latin typeface="Aptos"/>
                <a:ea typeface="Aptos"/>
                <a:cs typeface="Aptos"/>
              </a:rPr>
              <a:t>Test understanding</a:t>
            </a:r>
          </a:p>
          <a:p xmlns:a="http://schemas.openxmlformats.org/drawingml/2006/main">
            <a:pPr>
              <a:defRPr sz="1650" b="1">
                <a:solidFill>
                  <a:srgbClr val="121212"/>
                </a:solidFill>
                <a:latin typeface="Aptos"/>
                <a:ea typeface="Aptos"/>
                <a:cs typeface="Aptos"/>
              </a:defRPr>
            </a:pPr>
            <a:r>
              <a:rPr sz="1650" b="1">
                <a:solidFill>
                  <a:srgbClr val="121212"/>
                </a:solidFill>
                <a:latin typeface="Aptos"/>
                <a:ea typeface="Aptos"/>
                <a:cs typeface="Aptos"/>
              </a:rPr>
              <a:t>Surface the counter-case</a:t>
            </a:r>
          </a:p>
          <a:p xmlns:a="http://schemas.openxmlformats.org/drawingml/2006/main">
            <a:pPr>
              <a:defRPr sz="1650" b="1">
                <a:solidFill>
                  <a:srgbClr val="121212"/>
                </a:solidFill>
                <a:latin typeface="Aptos"/>
                <a:ea typeface="Aptos"/>
                <a:cs typeface="Aptos"/>
              </a:defRPr>
            </a:pPr>
            <a:r>
              <a:rPr sz="1650" b="1">
                <a:solidFill>
                  <a:srgbClr val="121212"/>
                </a:solidFill>
                <a:latin typeface="Aptos"/>
                <a:ea typeface="Aptos"/>
                <a:cs typeface="Aptos"/>
              </a:rPr>
              <a:t>Show your calibration</a:t>
            </a:r>
          </a:p>
          <a:p xmlns:a="http://schemas.openxmlformats.org/drawingml/2006/main">
            <a:pPr>
              <a:defRPr sz="1650" b="1">
                <a:solidFill>
                  <a:srgbClr val="121212"/>
                </a:solidFill>
                <a:latin typeface="Aptos"/>
                <a:ea typeface="Aptos"/>
                <a:cs typeface="Aptos"/>
              </a:defRPr>
            </a:pPr>
            <a:r>
              <a:rPr sz="1650" b="1">
                <a:solidFill>
                  <a:srgbClr val="121212"/>
                </a:solidFill>
                <a:latin typeface="Aptos"/>
                <a:ea typeface="Aptos"/>
                <a:cs typeface="Aptos"/>
              </a:rPr>
              <a:t>Check current priority</a:t>
            </a:r>
          </a:p>
        </p:txBody>
      </p:sp>
      <p:sp>
        <p:nvSpPr>
          <p:cNvPr id="14" name="">
            <a:extLst xmlns:a="http://schemas.openxmlformats.org/drawingml/2006/main">
              <a:ext uri="{FF2B5EF4-FFF2-40B4-BE49-F238E27FC236}">
                <a16:creationId xmlns:a16="http://schemas.microsoft.com/office/drawing/2014/main" id="{A5F196A3-A433-4292-9E3C-23B4B7EB7C16}"/>
              </a:ext>
            </a:extLst>
          </p:cNvPr>
          <p:cNvSpPr>
            <a:spLocks xmlns:a="http://schemas.openxmlformats.org/drawingml/2006/main" noGrp="1"/>
          </p:cNvSpPr>
          <p:nvPr/>
        </p:nvSpPr>
        <p:spPr>
          <a:xfrm xmlns:a="http://schemas.openxmlformats.org/drawingml/2006/main">
            <a:off x="8172450" y="44386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707070"/>
                </a:solidFill>
                <a:latin typeface="Aptos"/>
                <a:ea typeface="Aptos"/>
                <a:cs typeface="Aptos"/>
              </a:defRPr>
            </a:pPr>
            <a:r>
              <a:rPr sz="1275" b="0">
                <a:solidFill>
                  <a:srgbClr val="707070"/>
                </a:solidFill>
                <a:latin typeface="Aptos"/>
                <a:ea typeface="Aptos"/>
                <a:cs typeface="Aptos"/>
              </a:rPr>
              <a:t>You make the call. The outcome updates your history.</a:t>
            </a:r>
          </a:p>
        </p:txBody>
      </p:sp>
      <p:sp>
        <p:nvSpPr>
          <p:cNvPr id="15" name="">
            <a:extLst xmlns:a="http://schemas.openxmlformats.org/drawingml/2006/main">
              <a:ext uri="{FF2B5EF4-FFF2-40B4-BE49-F238E27FC236}">
                <a16:creationId xmlns:a16="http://schemas.microsoft.com/office/drawing/2014/main" id="{232230D6-4006-4800-AED3-CA1509F1B198}"/>
              </a:ext>
            </a:extLst>
          </p:cNvPr>
          <p:cNvSpPr>
            <a:spLocks xmlns:a="http://schemas.openxmlformats.org/drawingml/2006/main" noGrp="1"/>
          </p:cNvSpPr>
          <p:nvPr/>
        </p:nvSpPr>
        <p:spPr>
          <a:xfrm xmlns:a="http://schemas.openxmlformats.org/drawingml/2006/main">
            <a:off x="685800" y="5505450"/>
            <a:ext cx="10820400" cy="647700"/>
          </a:xfrm>
          <a:prstGeom xmlns:a="http://schemas.openxmlformats.org/drawingml/2006/main" prst="rect">
            <a:avLst/>
          </a:prstGeom>
          <a:solidFill xmlns:a="http://schemas.openxmlformats.org/drawingml/2006/main">
            <a:srgbClr val="FCEAE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0AB9881-40B3-4347-9736-EB0B79F2352F}"/>
              </a:ext>
            </a:extLst>
          </p:cNvPr>
          <p:cNvSpPr>
            <a:spLocks xmlns:a="http://schemas.openxmlformats.org/drawingml/2006/main" noGrp="1"/>
          </p:cNvSpPr>
          <p:nvPr/>
        </p:nvSpPr>
        <p:spPr>
          <a:xfrm xmlns:a="http://schemas.openxmlformats.org/drawingml/2006/main">
            <a:off x="895350" y="5686425"/>
            <a:ext cx="1038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1">
                <a:solidFill>
                  <a:srgbClr val="121212"/>
                </a:solidFill>
                <a:latin typeface="Aptos"/>
                <a:ea typeface="Aptos"/>
                <a:cs typeface="Aptos"/>
              </a:defRPr>
            </a:pPr>
            <a:r>
              <a:rPr sz="1425" b="1">
                <a:solidFill>
                  <a:srgbClr val="121212"/>
                </a:solidFill>
                <a:latin typeface="Aptos"/>
                <a:ea typeface="Aptos"/>
                <a:cs typeface="Aptos"/>
              </a:rPr>
              <a:t>Across life and work: retrieve context, connect notes and tasks, resurface open loops, challenge decisions, learn from outcomes.</a:t>
            </a:r>
          </a:p>
        </p:txBody>
      </p:sp>
      <p:sp>
        <p:nvSpPr>
          <p:cNvPr id="17" name="">
            <a:extLst xmlns:a="http://schemas.openxmlformats.org/drawingml/2006/main">
              <a:ext uri="{FF2B5EF4-FFF2-40B4-BE49-F238E27FC236}">
                <a16:creationId xmlns:a16="http://schemas.microsoft.com/office/drawing/2014/main" id="{897FD189-DF00-4FDC-98D7-EEF15BFA16AE}"/>
              </a:ext>
            </a:extLst>
          </p:cNvPr>
          <p:cNvSpPr>
            <a:spLocks xmlns:a="http://schemas.openxmlformats.org/drawingml/2006/main" noGrp="1"/>
          </p:cNvSpPr>
          <p:nvPr/>
        </p:nvSpPr>
        <p:spPr>
          <a:xfrm xmlns:a="http://schemas.openxmlformats.org/drawingml/2006/main">
            <a:off x="11277600" y="6486525"/>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50" b="0">
                <a:solidFill>
                  <a:srgbClr val="B9B9B9"/>
                </a:solidFill>
                <a:latin typeface="Aptos"/>
                <a:ea typeface="Aptos"/>
                <a:cs typeface="Aptos"/>
              </a:defRPr>
            </a:pPr>
            <a:r>
              <a:rPr sz="750" b="0">
                <a:solidFill>
                  <a:srgbClr val="B9B9B9"/>
                </a:solidFill>
                <a:latin typeface="Aptos"/>
                <a:ea typeface="Aptos"/>
                <a:cs typeface="Aptos"/>
              </a:rPr>
              <a:t>3/5</a:t>
            </a:r>
          </a:p>
        </p:txBody>
      </p:sp>
    </p:spTree>
    <p:extLst>
      <p:ext uri="{BB962C8B-B14F-4D97-AF65-F5344CB8AC3E}">
        <p14:creationId xmlns:p14="http://schemas.microsoft.com/office/powerpoint/2010/main" val="1023027834"/>
      </p:ext>
    </p:extLst>
  </p:cSld>
</p:sld>
</file>

<file path=ppt/slides/slide4.xml><?xml version="1.0" encoding="utf-8"?>
<p:sld xmlns:p="http://schemas.openxmlformats.org/presentationml/2006/main">
  <p:cSld>
    <p:bg>
      <p:bgPr>
        <a:solidFill xmlns:a="http://schemas.openxmlformats.org/drawingml/2006/main">
          <a:srgbClr val="12121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B350B0B-600C-41EF-9E57-D8CBAEC72530}"/>
              </a:ext>
            </a:extLst>
          </p:cNvPr>
          <p:cNvSpPr>
            <a:spLocks xmlns:a="http://schemas.openxmlformats.org/drawingml/2006/main" noGrp="1"/>
          </p:cNvSpPr>
          <p:nvPr/>
        </p:nvSpPr>
        <p:spPr>
          <a:xfrm xmlns:a="http://schemas.openxmlformats.org/drawingml/2006/main">
            <a:off x="685800" y="4762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1">
                <a:solidFill>
                  <a:srgbClr val="E43A26"/>
                </a:solidFill>
                <a:latin typeface="Aptos"/>
                <a:ea typeface="Aptos"/>
                <a:cs typeface="Aptos"/>
              </a:defRPr>
            </a:pPr>
            <a:r>
              <a:rPr sz="1050" b="1">
                <a:solidFill>
                  <a:srgbClr val="E43A26"/>
                </a:solidFill>
                <a:latin typeface="Aptos"/>
                <a:ea typeface="Aptos"/>
                <a:cs typeface="Aptos"/>
              </a:rPr>
              <a:t>WHY THIS COMPOUNDS</a:t>
            </a:r>
          </a:p>
        </p:txBody>
      </p:sp>
      <p:sp>
        <p:nvSpPr>
          <p:cNvPr id="2" name="">
            <a:extLst xmlns:a="http://schemas.openxmlformats.org/drawingml/2006/main">
              <a:ext uri="{FF2B5EF4-FFF2-40B4-BE49-F238E27FC236}">
                <a16:creationId xmlns:a16="http://schemas.microsoft.com/office/drawing/2014/main" id="{3B9CF7EB-1145-49FB-B469-D3947754CD7E}"/>
              </a:ext>
            </a:extLst>
          </p:cNvPr>
          <p:cNvSpPr>
            <a:spLocks xmlns:a="http://schemas.openxmlformats.org/drawingml/2006/main" noGrp="1"/>
          </p:cNvSpPr>
          <p:nvPr/>
        </p:nvSpPr>
        <p:spPr>
          <a:xfrm xmlns:a="http://schemas.openxmlformats.org/drawingml/2006/main">
            <a:off x="685800" y="952500"/>
            <a:ext cx="914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FFF"/>
                </a:solidFill>
                <a:latin typeface="Aptos Display"/>
                <a:ea typeface="Aptos Display"/>
                <a:cs typeface="Aptos Display"/>
              </a:defRPr>
            </a:pPr>
            <a:r>
              <a:rPr sz="3300" b="1">
                <a:solidFill>
                  <a:srgbClr val="FFFFFF"/>
                </a:solidFill>
                <a:latin typeface="Aptos Display"/>
                <a:ea typeface="Aptos Display"/>
                <a:cs typeface="Aptos Display"/>
              </a:rPr>
              <a:t>The moat is the history of how you decide.</a:t>
            </a:r>
          </a:p>
        </p:txBody>
      </p:sp>
      <p:sp>
        <p:nvSpPr>
          <p:cNvPr id="3" name="">
            <a:extLst xmlns:a="http://schemas.openxmlformats.org/drawingml/2006/main">
              <a:ext uri="{FF2B5EF4-FFF2-40B4-BE49-F238E27FC236}">
                <a16:creationId xmlns:a16="http://schemas.microsoft.com/office/drawing/2014/main" id="{CB3F3192-2807-466E-B6ED-71FBF865D489}"/>
              </a:ext>
            </a:extLst>
          </p:cNvPr>
          <p:cNvSpPr>
            <a:spLocks xmlns:a="http://schemas.openxmlformats.org/drawingml/2006/main" noGrp="1"/>
          </p:cNvSpPr>
          <p:nvPr/>
        </p:nvSpPr>
        <p:spPr>
          <a:xfrm xmlns:a="http://schemas.openxmlformats.org/drawingml/2006/main">
            <a:off x="685800" y="17145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B9B9B9"/>
                </a:solidFill>
                <a:latin typeface="Aptos"/>
                <a:ea typeface="Aptos"/>
                <a:cs typeface="Aptos"/>
              </a:defRPr>
            </a:pPr>
            <a:r>
              <a:rPr sz="1575" b="0">
                <a:solidFill>
                  <a:srgbClr val="B9B9B9"/>
                </a:solidFill>
                <a:latin typeface="Aptos"/>
                <a:ea typeface="Aptos"/>
                <a:cs typeface="Aptos"/>
              </a:rPr>
              <a:t>Point tools can verify, summarize, or rebut. They do not share one memory of your goals, calls, and outcomes.</a:t>
            </a:r>
          </a:p>
        </p:txBody>
      </p:sp>
      <p:sp>
        <p:nvSpPr>
          <p:cNvPr id="4" name="">
            <a:extLst xmlns:a="http://schemas.openxmlformats.org/drawingml/2006/main">
              <a:ext uri="{FF2B5EF4-FFF2-40B4-BE49-F238E27FC236}">
                <a16:creationId xmlns:a16="http://schemas.microsoft.com/office/drawing/2014/main" id="{E3F1E82C-DDDE-4D9F-AF50-D26E275A6885}"/>
              </a:ext>
            </a:extLst>
          </p:cNvPr>
          <p:cNvSpPr>
            <a:spLocks xmlns:a="http://schemas.openxmlformats.org/drawingml/2006/main" noGrp="1"/>
          </p:cNvSpPr>
          <p:nvPr/>
        </p:nvSpPr>
        <p:spPr>
          <a:xfrm xmlns:a="http://schemas.openxmlformats.org/drawingml/2006/main">
            <a:off x="685800" y="2552700"/>
            <a:ext cx="6572250" cy="0"/>
          </a:xfrm>
          <a:prstGeom xmlns:a="http://schemas.openxmlformats.org/drawingml/2006/main" prst="line">
            <a:avLst/>
          </a:prstGeom>
          <a:noFill xmlns:a="http://schemas.openxmlformats.org/drawingml/2006/main"/>
          <a:ln xmlns:a="http://schemas.openxmlformats.org/drawingml/2006/main" w="9525">
            <a:solidFill>
              <a:srgbClr val="3B3B3B"/>
            </a:solidFill>
          </a:ln>
        </p:spPr>
      </p:sp>
      <p:sp>
        <p:nvSpPr>
          <p:cNvPr id="5" name="">
            <a:extLst xmlns:a="http://schemas.openxmlformats.org/drawingml/2006/main">
              <a:ext uri="{FF2B5EF4-FFF2-40B4-BE49-F238E27FC236}">
                <a16:creationId xmlns:a16="http://schemas.microsoft.com/office/drawing/2014/main" id="{7D2D547B-2D93-46CA-A926-14EE183E59BF}"/>
              </a:ext>
            </a:extLst>
          </p:cNvPr>
          <p:cNvSpPr>
            <a:spLocks xmlns:a="http://schemas.openxmlformats.org/drawingml/2006/main" noGrp="1"/>
          </p:cNvSpPr>
          <p:nvPr/>
        </p:nvSpPr>
        <p:spPr>
          <a:xfrm xmlns:a="http://schemas.openxmlformats.org/drawingml/2006/main">
            <a:off x="685800" y="26860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E43A26"/>
                </a:solidFill>
                <a:latin typeface="Aptos"/>
                <a:ea typeface="Aptos"/>
                <a:cs typeface="Aptos"/>
              </a:defRPr>
            </a:pPr>
            <a:r>
              <a:rPr sz="1125" b="1">
                <a:solidFill>
                  <a:srgbClr val="E43A26"/>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D5BA6E9-7080-48CD-BF1C-14CCC35BB57A}"/>
              </a:ext>
            </a:extLst>
          </p:cNvPr>
          <p:cNvSpPr>
            <a:spLocks xmlns:a="http://schemas.openxmlformats.org/drawingml/2006/main" noGrp="1"/>
          </p:cNvSpPr>
          <p:nvPr/>
        </p:nvSpPr>
        <p:spPr>
          <a:xfrm xmlns:a="http://schemas.openxmlformats.org/drawingml/2006/main">
            <a:off x="1257300" y="26670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FFFFF"/>
                </a:solidFill>
                <a:latin typeface="Aptos"/>
                <a:ea typeface="Aptos"/>
                <a:cs typeface="Aptos"/>
              </a:defRPr>
            </a:pPr>
            <a:r>
              <a:rPr sz="1725" b="1">
                <a:solidFill>
                  <a:srgbClr val="FFFFFF"/>
                </a:solidFill>
                <a:latin typeface="Aptos"/>
                <a:ea typeface="Aptos"/>
                <a:cs typeface="Aptos"/>
              </a:rPr>
              <a:t>Personal context graph</a:t>
            </a:r>
          </a:p>
        </p:txBody>
      </p:sp>
      <p:sp>
        <p:nvSpPr>
          <p:cNvPr id="7" name="">
            <a:extLst xmlns:a="http://schemas.openxmlformats.org/drawingml/2006/main">
              <a:ext uri="{FF2B5EF4-FFF2-40B4-BE49-F238E27FC236}">
                <a16:creationId xmlns:a16="http://schemas.microsoft.com/office/drawing/2014/main" id="{188FD50C-2CBC-4A4D-814B-C60FD5EBC8A2}"/>
              </a:ext>
            </a:extLst>
          </p:cNvPr>
          <p:cNvSpPr>
            <a:spLocks xmlns:a="http://schemas.openxmlformats.org/drawingml/2006/main" noGrp="1"/>
          </p:cNvSpPr>
          <p:nvPr/>
        </p:nvSpPr>
        <p:spPr>
          <a:xfrm xmlns:a="http://schemas.openxmlformats.org/drawingml/2006/main">
            <a:off x="4114800" y="26860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B9B9"/>
                </a:solidFill>
                <a:latin typeface="Aptos"/>
                <a:ea typeface="Aptos"/>
                <a:cs typeface="Aptos"/>
              </a:defRPr>
            </a:pPr>
            <a:r>
              <a:rPr sz="1275" b="0">
                <a:solidFill>
                  <a:srgbClr val="B9B9B9"/>
                </a:solidFill>
                <a:latin typeface="Aptos"/>
                <a:ea typeface="Aptos"/>
                <a:cs typeface="Aptos"/>
              </a:rPr>
              <a:t>Goals, priorities, knowledge, open loops</a:t>
            </a:r>
          </a:p>
        </p:txBody>
      </p:sp>
      <p:sp>
        <p:nvSpPr>
          <p:cNvPr id="8" name="">
            <a:extLst xmlns:a="http://schemas.openxmlformats.org/drawingml/2006/main">
              <a:ext uri="{FF2B5EF4-FFF2-40B4-BE49-F238E27FC236}">
                <a16:creationId xmlns:a16="http://schemas.microsoft.com/office/drawing/2014/main" id="{B81D2A61-E72D-4DD0-A44A-ADB1AF38B7D1}"/>
              </a:ext>
            </a:extLst>
          </p:cNvPr>
          <p:cNvSpPr>
            <a:spLocks xmlns:a="http://schemas.openxmlformats.org/drawingml/2006/main" noGrp="1"/>
          </p:cNvSpPr>
          <p:nvPr/>
        </p:nvSpPr>
        <p:spPr>
          <a:xfrm xmlns:a="http://schemas.openxmlformats.org/drawingml/2006/main">
            <a:off x="685800" y="3276600"/>
            <a:ext cx="6572250" cy="0"/>
          </a:xfrm>
          <a:prstGeom xmlns:a="http://schemas.openxmlformats.org/drawingml/2006/main" prst="line">
            <a:avLst/>
          </a:prstGeom>
          <a:noFill xmlns:a="http://schemas.openxmlformats.org/drawingml/2006/main"/>
          <a:ln xmlns:a="http://schemas.openxmlformats.org/drawingml/2006/main" w="9525">
            <a:solidFill>
              <a:srgbClr val="3B3B3B"/>
            </a:solidFill>
          </a:ln>
        </p:spPr>
      </p:sp>
      <p:sp>
        <p:nvSpPr>
          <p:cNvPr id="9" name="">
            <a:extLst xmlns:a="http://schemas.openxmlformats.org/drawingml/2006/main">
              <a:ext uri="{FF2B5EF4-FFF2-40B4-BE49-F238E27FC236}">
                <a16:creationId xmlns:a16="http://schemas.microsoft.com/office/drawing/2014/main" id="{4F6B35D8-689A-47F5-89B2-FF46948C058D}"/>
              </a:ext>
            </a:extLst>
          </p:cNvPr>
          <p:cNvSpPr>
            <a:spLocks xmlns:a="http://schemas.openxmlformats.org/drawingml/2006/main" noGrp="1"/>
          </p:cNvSpPr>
          <p:nvPr/>
        </p:nvSpPr>
        <p:spPr>
          <a:xfrm xmlns:a="http://schemas.openxmlformats.org/drawingml/2006/main">
            <a:off x="685800" y="3409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E43A26"/>
                </a:solidFill>
                <a:latin typeface="Aptos"/>
                <a:ea typeface="Aptos"/>
                <a:cs typeface="Aptos"/>
              </a:defRPr>
            </a:pPr>
            <a:r>
              <a:rPr sz="1125" b="1">
                <a:solidFill>
                  <a:srgbClr val="E43A26"/>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96D61D00-CABE-444C-B542-4585E0D4D7FD}"/>
              </a:ext>
            </a:extLst>
          </p:cNvPr>
          <p:cNvSpPr>
            <a:spLocks xmlns:a="http://schemas.openxmlformats.org/drawingml/2006/main" noGrp="1"/>
          </p:cNvSpPr>
          <p:nvPr/>
        </p:nvSpPr>
        <p:spPr>
          <a:xfrm xmlns:a="http://schemas.openxmlformats.org/drawingml/2006/main">
            <a:off x="1257300" y="33909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FFFFF"/>
                </a:solidFill>
                <a:latin typeface="Aptos"/>
                <a:ea typeface="Aptos"/>
                <a:cs typeface="Aptos"/>
              </a:defRPr>
            </a:pPr>
            <a:r>
              <a:rPr sz="1725" b="1">
                <a:solidFill>
                  <a:srgbClr val="FFFFFF"/>
                </a:solidFill>
                <a:latin typeface="Aptos"/>
                <a:ea typeface="Aptos"/>
                <a:cs typeface="Aptos"/>
              </a:rPr>
              <a:t>Decision history</a:t>
            </a:r>
          </a:p>
        </p:txBody>
      </p:sp>
      <p:sp>
        <p:nvSpPr>
          <p:cNvPr id="11" name="">
            <a:extLst xmlns:a="http://schemas.openxmlformats.org/drawingml/2006/main">
              <a:ext uri="{FF2B5EF4-FFF2-40B4-BE49-F238E27FC236}">
                <a16:creationId xmlns:a16="http://schemas.microsoft.com/office/drawing/2014/main" id="{BB34B291-F196-401D-A435-ED36665EDF52}"/>
              </a:ext>
            </a:extLst>
          </p:cNvPr>
          <p:cNvSpPr>
            <a:spLocks xmlns:a="http://schemas.openxmlformats.org/drawingml/2006/main" noGrp="1"/>
          </p:cNvSpPr>
          <p:nvPr/>
        </p:nvSpPr>
        <p:spPr>
          <a:xfrm xmlns:a="http://schemas.openxmlformats.org/drawingml/2006/main">
            <a:off x="4114800" y="34099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B9B9"/>
                </a:solidFill>
                <a:latin typeface="Aptos"/>
                <a:ea typeface="Aptos"/>
                <a:cs typeface="Aptos"/>
              </a:defRPr>
            </a:pPr>
            <a:r>
              <a:rPr sz="1275" b="0">
                <a:solidFill>
                  <a:srgbClr val="B9B9B9"/>
                </a:solidFill>
                <a:latin typeface="Aptos"/>
                <a:ea typeface="Aptos"/>
                <a:cs typeface="Aptos"/>
              </a:rPr>
              <a:t>Claims, confidence, reasoning, chosen action</a:t>
            </a:r>
          </a:p>
        </p:txBody>
      </p:sp>
      <p:sp>
        <p:nvSpPr>
          <p:cNvPr id="12" name="">
            <a:extLst xmlns:a="http://schemas.openxmlformats.org/drawingml/2006/main">
              <a:ext uri="{FF2B5EF4-FFF2-40B4-BE49-F238E27FC236}">
                <a16:creationId xmlns:a16="http://schemas.microsoft.com/office/drawing/2014/main" id="{BF36427D-081B-41CE-A665-A63ED33FC1D1}"/>
              </a:ext>
            </a:extLst>
          </p:cNvPr>
          <p:cNvSpPr>
            <a:spLocks xmlns:a="http://schemas.openxmlformats.org/drawingml/2006/main" noGrp="1"/>
          </p:cNvSpPr>
          <p:nvPr/>
        </p:nvSpPr>
        <p:spPr>
          <a:xfrm xmlns:a="http://schemas.openxmlformats.org/drawingml/2006/main">
            <a:off x="685800" y="4000500"/>
            <a:ext cx="6572250" cy="0"/>
          </a:xfrm>
          <a:prstGeom xmlns:a="http://schemas.openxmlformats.org/drawingml/2006/main" prst="line">
            <a:avLst/>
          </a:prstGeom>
          <a:noFill xmlns:a="http://schemas.openxmlformats.org/drawingml/2006/main"/>
          <a:ln xmlns:a="http://schemas.openxmlformats.org/drawingml/2006/main" w="9525">
            <a:solidFill>
              <a:srgbClr val="3B3B3B"/>
            </a:solidFill>
          </a:ln>
        </p:spPr>
      </p:sp>
      <p:sp>
        <p:nvSpPr>
          <p:cNvPr id="13" name="">
            <a:extLst xmlns:a="http://schemas.openxmlformats.org/drawingml/2006/main">
              <a:ext uri="{FF2B5EF4-FFF2-40B4-BE49-F238E27FC236}">
                <a16:creationId xmlns:a16="http://schemas.microsoft.com/office/drawing/2014/main" id="{92D0E0FC-B386-4834-A407-80805979B61A}"/>
              </a:ext>
            </a:extLst>
          </p:cNvPr>
          <p:cNvSpPr>
            <a:spLocks xmlns:a="http://schemas.openxmlformats.org/drawingml/2006/main" noGrp="1"/>
          </p:cNvSpPr>
          <p:nvPr/>
        </p:nvSpPr>
        <p:spPr>
          <a:xfrm xmlns:a="http://schemas.openxmlformats.org/drawingml/2006/main">
            <a:off x="685800" y="41338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E43A26"/>
                </a:solidFill>
                <a:latin typeface="Aptos"/>
                <a:ea typeface="Aptos"/>
                <a:cs typeface="Aptos"/>
              </a:defRPr>
            </a:pPr>
            <a:r>
              <a:rPr sz="1125" b="1">
                <a:solidFill>
                  <a:srgbClr val="E43A26"/>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1C187A83-0FD9-4A4C-BD58-57D9CEC71EF3}"/>
              </a:ext>
            </a:extLst>
          </p:cNvPr>
          <p:cNvSpPr>
            <a:spLocks xmlns:a="http://schemas.openxmlformats.org/drawingml/2006/main" noGrp="1"/>
          </p:cNvSpPr>
          <p:nvPr/>
        </p:nvSpPr>
        <p:spPr>
          <a:xfrm xmlns:a="http://schemas.openxmlformats.org/drawingml/2006/main">
            <a:off x="1257300" y="41148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FFFFF"/>
                </a:solidFill>
                <a:latin typeface="Aptos"/>
                <a:ea typeface="Aptos"/>
                <a:cs typeface="Aptos"/>
              </a:defRPr>
            </a:pPr>
            <a:r>
              <a:rPr sz="1725" b="1">
                <a:solidFill>
                  <a:srgbClr val="FFFFFF"/>
                </a:solidFill>
                <a:latin typeface="Aptos"/>
                <a:ea typeface="Aptos"/>
                <a:cs typeface="Aptos"/>
              </a:rPr>
              <a:t>Calibration</a:t>
            </a:r>
          </a:p>
        </p:txBody>
      </p:sp>
      <p:sp>
        <p:nvSpPr>
          <p:cNvPr id="15" name="">
            <a:extLst xmlns:a="http://schemas.openxmlformats.org/drawingml/2006/main">
              <a:ext uri="{FF2B5EF4-FFF2-40B4-BE49-F238E27FC236}">
                <a16:creationId xmlns:a16="http://schemas.microsoft.com/office/drawing/2014/main" id="{4CF9E46E-B66F-4AB7-886F-1448D639289B}"/>
              </a:ext>
            </a:extLst>
          </p:cNvPr>
          <p:cNvSpPr>
            <a:spLocks xmlns:a="http://schemas.openxmlformats.org/drawingml/2006/main" noGrp="1"/>
          </p:cNvSpPr>
          <p:nvPr/>
        </p:nvSpPr>
        <p:spPr>
          <a:xfrm xmlns:a="http://schemas.openxmlformats.org/drawingml/2006/main">
            <a:off x="4114800" y="41338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B9B9"/>
                </a:solidFill>
                <a:latin typeface="Aptos"/>
                <a:ea typeface="Aptos"/>
                <a:cs typeface="Aptos"/>
              </a:defRPr>
            </a:pPr>
            <a:r>
              <a:rPr sz="1275" b="0">
                <a:solidFill>
                  <a:srgbClr val="B9B9B9"/>
                </a:solidFill>
                <a:latin typeface="Aptos"/>
                <a:ea typeface="Aptos"/>
                <a:cs typeface="Aptos"/>
              </a:rPr>
              <a:t>Where confidence matches outcomes by decision type</a:t>
            </a:r>
          </a:p>
        </p:txBody>
      </p:sp>
      <p:sp>
        <p:nvSpPr>
          <p:cNvPr id="16" name="">
            <a:extLst xmlns:a="http://schemas.openxmlformats.org/drawingml/2006/main">
              <a:ext uri="{FF2B5EF4-FFF2-40B4-BE49-F238E27FC236}">
                <a16:creationId xmlns:a16="http://schemas.microsoft.com/office/drawing/2014/main" id="{B643ED52-7904-4F31-97E0-25EB0BDA25EC}"/>
              </a:ext>
            </a:extLst>
          </p:cNvPr>
          <p:cNvSpPr>
            <a:spLocks xmlns:a="http://schemas.openxmlformats.org/drawingml/2006/main" noGrp="1"/>
          </p:cNvSpPr>
          <p:nvPr/>
        </p:nvSpPr>
        <p:spPr>
          <a:xfrm xmlns:a="http://schemas.openxmlformats.org/drawingml/2006/main">
            <a:off x="685800" y="4724400"/>
            <a:ext cx="6572250" cy="0"/>
          </a:xfrm>
          <a:prstGeom xmlns:a="http://schemas.openxmlformats.org/drawingml/2006/main" prst="line">
            <a:avLst/>
          </a:prstGeom>
          <a:noFill xmlns:a="http://schemas.openxmlformats.org/drawingml/2006/main"/>
          <a:ln xmlns:a="http://schemas.openxmlformats.org/drawingml/2006/main" w="9525">
            <a:solidFill>
              <a:srgbClr val="3B3B3B"/>
            </a:solidFill>
          </a:ln>
        </p:spPr>
      </p:sp>
      <p:sp>
        <p:nvSpPr>
          <p:cNvPr id="17" name="">
            <a:extLst xmlns:a="http://schemas.openxmlformats.org/drawingml/2006/main">
              <a:ext uri="{FF2B5EF4-FFF2-40B4-BE49-F238E27FC236}">
                <a16:creationId xmlns:a16="http://schemas.microsoft.com/office/drawing/2014/main" id="{82106AC9-4AF0-44B3-A12D-494F6AA00B8A}"/>
              </a:ext>
            </a:extLst>
          </p:cNvPr>
          <p:cNvSpPr>
            <a:spLocks xmlns:a="http://schemas.openxmlformats.org/drawingml/2006/main" noGrp="1"/>
          </p:cNvSpPr>
          <p:nvPr/>
        </p:nvSpPr>
        <p:spPr>
          <a:xfrm xmlns:a="http://schemas.openxmlformats.org/drawingml/2006/main">
            <a:off x="685800" y="48577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1">
                <a:solidFill>
                  <a:srgbClr val="E43A26"/>
                </a:solidFill>
                <a:latin typeface="Aptos"/>
                <a:ea typeface="Aptos"/>
                <a:cs typeface="Aptos"/>
              </a:defRPr>
            </a:pPr>
            <a:r>
              <a:rPr sz="1125" b="1">
                <a:solidFill>
                  <a:srgbClr val="E43A26"/>
                </a:solidFill>
                <a:latin typeface="Aptos"/>
                <a:ea typeface="Aptos"/>
                <a:cs typeface="Aptos"/>
              </a:rPr>
              <a:t>04</a:t>
            </a:r>
          </a:p>
        </p:txBody>
      </p:sp>
      <p:sp>
        <p:nvSpPr>
          <p:cNvPr id="18" name="">
            <a:extLst xmlns:a="http://schemas.openxmlformats.org/drawingml/2006/main">
              <a:ext uri="{FF2B5EF4-FFF2-40B4-BE49-F238E27FC236}">
                <a16:creationId xmlns:a16="http://schemas.microsoft.com/office/drawing/2014/main" id="{8264476A-C647-4A11-859C-49CC6E30CB01}"/>
              </a:ext>
            </a:extLst>
          </p:cNvPr>
          <p:cNvSpPr>
            <a:spLocks xmlns:a="http://schemas.openxmlformats.org/drawingml/2006/main" noGrp="1"/>
          </p:cNvSpPr>
          <p:nvPr/>
        </p:nvSpPr>
        <p:spPr>
          <a:xfrm xmlns:a="http://schemas.openxmlformats.org/drawingml/2006/main">
            <a:off x="1257300" y="48387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FFFFF"/>
                </a:solidFill>
                <a:latin typeface="Aptos"/>
                <a:ea typeface="Aptos"/>
                <a:cs typeface="Aptos"/>
              </a:defRPr>
            </a:pPr>
            <a:r>
              <a:rPr sz="1725" b="1">
                <a:solidFill>
                  <a:srgbClr val="FFFFFF"/>
                </a:solidFill>
                <a:latin typeface="Aptos"/>
                <a:ea typeface="Aptos"/>
                <a:cs typeface="Aptos"/>
              </a:rPr>
              <a:t>Fading scaffolding</a:t>
            </a:r>
          </a:p>
        </p:txBody>
      </p:sp>
      <p:sp>
        <p:nvSpPr>
          <p:cNvPr id="19" name="">
            <a:extLst xmlns:a="http://schemas.openxmlformats.org/drawingml/2006/main">
              <a:ext uri="{FF2B5EF4-FFF2-40B4-BE49-F238E27FC236}">
                <a16:creationId xmlns:a16="http://schemas.microsoft.com/office/drawing/2014/main" id="{FD6C1689-416B-40F1-933B-F3DCA55B07F1}"/>
              </a:ext>
            </a:extLst>
          </p:cNvPr>
          <p:cNvSpPr>
            <a:spLocks xmlns:a="http://schemas.openxmlformats.org/drawingml/2006/main" noGrp="1"/>
          </p:cNvSpPr>
          <p:nvPr/>
        </p:nvSpPr>
        <p:spPr>
          <a:xfrm xmlns:a="http://schemas.openxmlformats.org/drawingml/2006/main">
            <a:off x="4114800" y="48577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B9B9B9"/>
                </a:solidFill>
                <a:latin typeface="Aptos"/>
                <a:ea typeface="Aptos"/>
                <a:cs typeface="Aptos"/>
              </a:defRPr>
            </a:pPr>
            <a:r>
              <a:rPr sz="1275" b="0">
                <a:solidFill>
                  <a:srgbClr val="B9B9B9"/>
                </a:solidFill>
                <a:latin typeface="Aptos"/>
                <a:ea typeface="Aptos"/>
                <a:cs typeface="Aptos"/>
              </a:rPr>
              <a:t>Less help as judgment improves</a:t>
            </a:r>
          </a:p>
        </p:txBody>
      </p:sp>
      <p:sp>
        <p:nvSpPr>
          <p:cNvPr id="20" name="">
            <a:extLst xmlns:a="http://schemas.openxmlformats.org/drawingml/2006/main">
              <a:ext uri="{FF2B5EF4-FFF2-40B4-BE49-F238E27FC236}">
                <a16:creationId xmlns:a16="http://schemas.microsoft.com/office/drawing/2014/main" id="{F2428B31-A20D-4D72-A76B-C0D0C8F149A7}"/>
              </a:ext>
            </a:extLst>
          </p:cNvPr>
          <p:cNvSpPr>
            <a:spLocks xmlns:a="http://schemas.openxmlformats.org/drawingml/2006/main" noGrp="1"/>
          </p:cNvSpPr>
          <p:nvPr/>
        </p:nvSpPr>
        <p:spPr>
          <a:xfrm xmlns:a="http://schemas.openxmlformats.org/drawingml/2006/main">
            <a:off x="7867650" y="2647950"/>
            <a:ext cx="38100" cy="2762250"/>
          </a:xfrm>
          <a:prstGeom xmlns:a="http://schemas.openxmlformats.org/drawingml/2006/main" prst="rect">
            <a:avLst/>
          </a:prstGeom>
          <a:solidFill xmlns:a="http://schemas.openxmlformats.org/drawingml/2006/main">
            <a:srgbClr val="E43A2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4ED2851-97CB-44D3-A900-4E4C4A48BB6E}"/>
              </a:ext>
            </a:extLst>
          </p:cNvPr>
          <p:cNvSpPr>
            <a:spLocks xmlns:a="http://schemas.openxmlformats.org/drawingml/2006/main" noGrp="1"/>
          </p:cNvSpPr>
          <p:nvPr/>
        </p:nvSpPr>
        <p:spPr>
          <a:xfrm xmlns:a="http://schemas.openxmlformats.org/drawingml/2006/main">
            <a:off x="8305800" y="2857500"/>
            <a:ext cx="30289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FFFF"/>
                </a:solidFill>
                <a:latin typeface="Aptos"/>
                <a:ea typeface="Aptos"/>
                <a:cs typeface="Aptos"/>
              </a:defRPr>
            </a:pPr>
            <a:r>
              <a:rPr sz="2400" b="1">
                <a:solidFill>
                  <a:srgbClr val="FFFFFF"/>
                </a:solidFill>
                <a:latin typeface="Aptos"/>
                <a:ea typeface="Aptos"/>
                <a:cs typeface="Aptos"/>
              </a:rPr>
              <a:t>Each outcome makes the next check more personal.</a:t>
            </a:r>
          </a:p>
        </p:txBody>
      </p:sp>
      <p:sp>
        <p:nvSpPr>
          <p:cNvPr id="22" name="">
            <a:extLst xmlns:a="http://schemas.openxmlformats.org/drawingml/2006/main">
              <a:ext uri="{FF2B5EF4-FFF2-40B4-BE49-F238E27FC236}">
                <a16:creationId xmlns:a16="http://schemas.microsoft.com/office/drawing/2014/main" id="{685AE3AF-1498-4737-A648-2C6CEBD08B80}"/>
              </a:ext>
            </a:extLst>
          </p:cNvPr>
          <p:cNvSpPr>
            <a:spLocks xmlns:a="http://schemas.openxmlformats.org/drawingml/2006/main" noGrp="1"/>
          </p:cNvSpPr>
          <p:nvPr/>
        </p:nvSpPr>
        <p:spPr>
          <a:xfrm xmlns:a="http://schemas.openxmlformats.org/drawingml/2006/main">
            <a:off x="8305800" y="4267200"/>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B9B9B9"/>
                </a:solidFill>
                <a:latin typeface="Aptos"/>
                <a:ea typeface="Aptos"/>
                <a:cs typeface="Aptos"/>
              </a:defRPr>
            </a:pPr>
            <a:r>
              <a:rPr sz="1575" b="0">
                <a:solidFill>
                  <a:srgbClr val="B9B9B9"/>
                </a:solidFill>
                <a:latin typeface="Aptos"/>
                <a:ea typeface="Aptos"/>
                <a:cs typeface="Aptos"/>
              </a:rPr>
              <a:t>Success means the user needs less scaffolding over time.</a:t>
            </a:r>
          </a:p>
        </p:txBody>
      </p:sp>
      <p:sp>
        <p:nvSpPr>
          <p:cNvPr id="23" name="">
            <a:extLst xmlns:a="http://schemas.openxmlformats.org/drawingml/2006/main">
              <a:ext uri="{FF2B5EF4-FFF2-40B4-BE49-F238E27FC236}">
                <a16:creationId xmlns:a16="http://schemas.microsoft.com/office/drawing/2014/main" id="{4F967866-4F79-44B8-BE9A-F7F057C46EAF}"/>
              </a:ext>
            </a:extLst>
          </p:cNvPr>
          <p:cNvSpPr>
            <a:spLocks xmlns:a="http://schemas.openxmlformats.org/drawingml/2006/main" noGrp="1"/>
          </p:cNvSpPr>
          <p:nvPr/>
        </p:nvSpPr>
        <p:spPr>
          <a:xfrm xmlns:a="http://schemas.openxmlformats.org/drawingml/2006/main">
            <a:off x="11277600" y="6486525"/>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50" b="0">
                <a:solidFill>
                  <a:srgbClr val="666666"/>
                </a:solidFill>
                <a:latin typeface="Aptos"/>
                <a:ea typeface="Aptos"/>
                <a:cs typeface="Aptos"/>
              </a:defRPr>
            </a:pPr>
            <a:r>
              <a:rPr sz="750" b="0">
                <a:solidFill>
                  <a:srgbClr val="666666"/>
                </a:solidFill>
                <a:latin typeface="Aptos"/>
                <a:ea typeface="Aptos"/>
                <a:cs typeface="Aptos"/>
              </a:rPr>
              <a:t>4/5</a:t>
            </a:r>
          </a:p>
        </p:txBody>
      </p:sp>
    </p:spTree>
    <p:extLst>
      <p:ext uri="{BB962C8B-B14F-4D97-AF65-F5344CB8AC3E}">
        <p14:creationId xmlns:p14="http://schemas.microsoft.com/office/powerpoint/2010/main" val="909800003"/>
      </p:ext>
    </p:extLst>
  </p:cSld>
</p:sld>
</file>

<file path=ppt/slides/slide5.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B0583BF-BB8C-4201-B268-3E0619CF5758}"/>
              </a:ext>
            </a:extLst>
          </p:cNvPr>
          <p:cNvSpPr>
            <a:spLocks xmlns:a="http://schemas.openxmlformats.org/drawingml/2006/main" noGrp="1"/>
          </p:cNvSpPr>
          <p:nvPr/>
        </p:nvSpPr>
        <p:spPr>
          <a:xfrm xmlns:a="http://schemas.openxmlformats.org/drawingml/2006/main">
            <a:off x="685800" y="4762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1">
                <a:solidFill>
                  <a:srgbClr val="E43A26"/>
                </a:solidFill>
                <a:latin typeface="Aptos"/>
                <a:ea typeface="Aptos"/>
                <a:cs typeface="Aptos"/>
              </a:defRPr>
            </a:pPr>
            <a:r>
              <a:rPr sz="1050" b="1">
                <a:solidFill>
                  <a:srgbClr val="E43A26"/>
                </a:solidFill>
                <a:latin typeface="Aptos"/>
                <a:ea typeface="Aptos"/>
                <a:cs typeface="Aptos"/>
              </a:rPr>
              <a:t>THE BUILD</a:t>
            </a:r>
          </a:p>
        </p:txBody>
      </p:sp>
      <p:sp>
        <p:nvSpPr>
          <p:cNvPr id="2" name="">
            <a:extLst xmlns:a="http://schemas.openxmlformats.org/drawingml/2006/main">
              <a:ext uri="{FF2B5EF4-FFF2-40B4-BE49-F238E27FC236}">
                <a16:creationId xmlns:a16="http://schemas.microsoft.com/office/drawing/2014/main" id="{C8974248-589D-4440-B07E-7EF2CA4142FA}"/>
              </a:ext>
            </a:extLst>
          </p:cNvPr>
          <p:cNvSpPr>
            <a:spLocks xmlns:a="http://schemas.openxmlformats.org/drawingml/2006/main" noGrp="1"/>
          </p:cNvSpPr>
          <p:nvPr/>
        </p:nvSpPr>
        <p:spPr>
          <a:xfrm xmlns:a="http://schemas.openxmlformats.org/drawingml/2006/main">
            <a:off x="685800" y="95250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121212"/>
                </a:solidFill>
                <a:latin typeface="Aptos Display"/>
                <a:ea typeface="Aptos Display"/>
                <a:cs typeface="Aptos Display"/>
              </a:defRPr>
            </a:pPr>
            <a:r>
              <a:rPr sz="3225" b="1">
                <a:solidFill>
                  <a:srgbClr val="121212"/>
                </a:solidFill>
                <a:latin typeface="Aptos Display"/>
                <a:ea typeface="Aptos Display"/>
                <a:cs typeface="Aptos Display"/>
              </a:rPr>
              <a:t>4 weeks to a narrow AI OS vertical slice</a:t>
            </a:r>
          </a:p>
        </p:txBody>
      </p:sp>
      <p:sp>
        <p:nvSpPr>
          <p:cNvPr id="3" name="">
            <a:extLst xmlns:a="http://schemas.openxmlformats.org/drawingml/2006/main">
              <a:ext uri="{FF2B5EF4-FFF2-40B4-BE49-F238E27FC236}">
                <a16:creationId xmlns:a16="http://schemas.microsoft.com/office/drawing/2014/main" id="{4D0B128F-80F9-49C6-9EBC-DD91846FD464}"/>
              </a:ext>
            </a:extLst>
          </p:cNvPr>
          <p:cNvSpPr>
            <a:spLocks xmlns:a="http://schemas.openxmlformats.org/drawingml/2006/main" noGrp="1"/>
          </p:cNvSpPr>
          <p:nvPr/>
        </p:nvSpPr>
        <p:spPr>
          <a:xfrm xmlns:a="http://schemas.openxmlformats.org/drawingml/2006/main">
            <a:off x="685800" y="16192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707070"/>
                </a:solidFill>
                <a:latin typeface="Aptos"/>
                <a:ea typeface="Aptos"/>
                <a:cs typeface="Aptos"/>
              </a:defRPr>
            </a:pPr>
            <a:r>
              <a:rPr sz="1575" b="0">
                <a:solidFill>
                  <a:srgbClr val="707070"/>
                </a:solidFill>
                <a:latin typeface="Aptos"/>
                <a:ea typeface="Aptos"/>
                <a:cs typeface="Aptos"/>
              </a:rPr>
              <a:t>One user. Real decisions. Persistent context. Closed outcome loops.</a:t>
            </a:r>
          </a:p>
        </p:txBody>
      </p:sp>
      <p:sp>
        <p:nvSpPr>
          <p:cNvPr id="4" name="">
            <a:extLst xmlns:a="http://schemas.openxmlformats.org/drawingml/2006/main">
              <a:ext uri="{FF2B5EF4-FFF2-40B4-BE49-F238E27FC236}">
                <a16:creationId xmlns:a16="http://schemas.microsoft.com/office/drawing/2014/main" id="{E43136CC-1B46-41D0-9476-7B2DB7D55368}"/>
              </a:ext>
            </a:extLst>
          </p:cNvPr>
          <p:cNvSpPr>
            <a:spLocks xmlns:a="http://schemas.openxmlformats.org/drawingml/2006/main" noGrp="1"/>
          </p:cNvSpPr>
          <p:nvPr/>
        </p:nvSpPr>
        <p:spPr>
          <a:xfrm xmlns:a="http://schemas.openxmlformats.org/drawingml/2006/main">
            <a:off x="685800" y="2438400"/>
            <a:ext cx="628650" cy="400050"/>
          </a:xfrm>
          <a:prstGeom xmlns:a="http://schemas.openxmlformats.org/drawingml/2006/main" prst="roundRect">
            <a:avLst>
              <a:gd name="adj" fmla="val 19048"/>
            </a:avLst>
          </a:prstGeom>
          <a:solidFill xmlns:a="http://schemas.openxmlformats.org/drawingml/2006/main">
            <a:srgbClr val="1212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534921-E00E-4135-8508-5F25B34068DA}"/>
              </a:ext>
            </a:extLst>
          </p:cNvPr>
          <p:cNvSpPr>
            <a:spLocks xmlns:a="http://schemas.openxmlformats.org/drawingml/2006/main" noGrp="1"/>
          </p:cNvSpPr>
          <p:nvPr/>
        </p:nvSpPr>
        <p:spPr>
          <a:xfrm xmlns:a="http://schemas.openxmlformats.org/drawingml/2006/main">
            <a:off x="781050" y="254317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FFFFFF"/>
                </a:solidFill>
                <a:latin typeface="Aptos"/>
                <a:ea typeface="Aptos"/>
                <a:cs typeface="Aptos"/>
              </a:defRPr>
            </a:pPr>
            <a:r>
              <a:rPr sz="975" b="1">
                <a:solidFill>
                  <a:srgbClr val="FFFFFF"/>
                </a:solidFill>
                <a:latin typeface="Aptos"/>
                <a:ea typeface="Aptos"/>
                <a:cs typeface="Aptos"/>
              </a:rPr>
              <a:t>W1</a:t>
            </a:r>
          </a:p>
        </p:txBody>
      </p:sp>
      <p:sp>
        <p:nvSpPr>
          <p:cNvPr id="6" name="">
            <a:extLst xmlns:a="http://schemas.openxmlformats.org/drawingml/2006/main">
              <a:ext uri="{FF2B5EF4-FFF2-40B4-BE49-F238E27FC236}">
                <a16:creationId xmlns:a16="http://schemas.microsoft.com/office/drawing/2014/main" id="{9DB2C63C-A745-40F2-AF80-EB02B5CC8A68}"/>
              </a:ext>
            </a:extLst>
          </p:cNvPr>
          <p:cNvSpPr>
            <a:spLocks xmlns:a="http://schemas.openxmlformats.org/drawingml/2006/main" noGrp="1"/>
          </p:cNvSpPr>
          <p:nvPr/>
        </p:nvSpPr>
        <p:spPr>
          <a:xfrm xmlns:a="http://schemas.openxmlformats.org/drawingml/2006/main">
            <a:off x="1657350" y="2447925"/>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121212"/>
                </a:solidFill>
                <a:latin typeface="Aptos"/>
                <a:ea typeface="Aptos"/>
                <a:cs typeface="Aptos"/>
              </a:defRPr>
            </a:pPr>
            <a:r>
              <a:rPr sz="1500" b="1">
                <a:solidFill>
                  <a:srgbClr val="121212"/>
                </a:solidFill>
                <a:latin typeface="Aptos"/>
                <a:ea typeface="Aptos"/>
                <a:cs typeface="Aptos"/>
              </a:rPr>
              <a:t>Context spine</a:t>
            </a:r>
          </a:p>
        </p:txBody>
      </p:sp>
      <p:sp>
        <p:nvSpPr>
          <p:cNvPr id="7" name="">
            <a:extLst xmlns:a="http://schemas.openxmlformats.org/drawingml/2006/main">
              <a:ext uri="{FF2B5EF4-FFF2-40B4-BE49-F238E27FC236}">
                <a16:creationId xmlns:a16="http://schemas.microsoft.com/office/drawing/2014/main" id="{62797DCD-E151-4872-AD68-3D7700EE1811}"/>
              </a:ext>
            </a:extLst>
          </p:cNvPr>
          <p:cNvSpPr>
            <a:spLocks xmlns:a="http://schemas.openxmlformats.org/drawingml/2006/main" noGrp="1"/>
          </p:cNvSpPr>
          <p:nvPr/>
        </p:nvSpPr>
        <p:spPr>
          <a:xfrm xmlns:a="http://schemas.openxmlformats.org/drawingml/2006/main">
            <a:off x="4343400" y="2447925"/>
            <a:ext cx="6896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707070"/>
                </a:solidFill>
                <a:latin typeface="Aptos"/>
                <a:ea typeface="Aptos"/>
                <a:cs typeface="Aptos"/>
              </a:defRPr>
            </a:pPr>
            <a:r>
              <a:rPr sz="1275" b="0">
                <a:solidFill>
                  <a:srgbClr val="707070"/>
                </a:solidFill>
                <a:latin typeface="Aptos"/>
                <a:ea typeface="Aptos"/>
                <a:cs typeface="Aptos"/>
              </a:rPr>
              <a:t>Import goals, priorities, notes, tasks, and open decisions. Resurface one open loop.</a:t>
            </a:r>
          </a:p>
        </p:txBody>
      </p:sp>
      <p:sp>
        <p:nvSpPr>
          <p:cNvPr id="8" name="">
            <a:extLst xmlns:a="http://schemas.openxmlformats.org/drawingml/2006/main">
              <a:ext uri="{FF2B5EF4-FFF2-40B4-BE49-F238E27FC236}">
                <a16:creationId xmlns:a16="http://schemas.microsoft.com/office/drawing/2014/main" id="{83567FB7-418D-4EC3-946A-BB6470A1F78F}"/>
              </a:ext>
            </a:extLst>
          </p:cNvPr>
          <p:cNvSpPr>
            <a:spLocks xmlns:a="http://schemas.openxmlformats.org/drawingml/2006/main" noGrp="1"/>
          </p:cNvSpPr>
          <p:nvPr/>
        </p:nvSpPr>
        <p:spPr>
          <a:xfrm xmlns:a="http://schemas.openxmlformats.org/drawingml/2006/main">
            <a:off x="1657350" y="3028950"/>
            <a:ext cx="9582150" cy="0"/>
          </a:xfrm>
          <a:prstGeom xmlns:a="http://schemas.openxmlformats.org/drawingml/2006/main" prst="line">
            <a:avLst/>
          </a:prstGeom>
          <a:noFill xmlns:a="http://schemas.openxmlformats.org/drawingml/2006/main"/>
          <a:ln xmlns:a="http://schemas.openxmlformats.org/drawingml/2006/main" w="9525">
            <a:solidFill>
              <a:srgbClr val="E7E5E1"/>
            </a:solidFill>
          </a:ln>
        </p:spPr>
      </p:sp>
      <p:sp>
        <p:nvSpPr>
          <p:cNvPr id="9" name="">
            <a:extLst xmlns:a="http://schemas.openxmlformats.org/drawingml/2006/main">
              <a:ext uri="{FF2B5EF4-FFF2-40B4-BE49-F238E27FC236}">
                <a16:creationId xmlns:a16="http://schemas.microsoft.com/office/drawing/2014/main" id="{445152AA-D9B8-4DD4-A8C0-356928B58848}"/>
              </a:ext>
            </a:extLst>
          </p:cNvPr>
          <p:cNvSpPr>
            <a:spLocks xmlns:a="http://schemas.openxmlformats.org/drawingml/2006/main" noGrp="1"/>
          </p:cNvSpPr>
          <p:nvPr/>
        </p:nvSpPr>
        <p:spPr>
          <a:xfrm xmlns:a="http://schemas.openxmlformats.org/drawingml/2006/main">
            <a:off x="685800" y="3219450"/>
            <a:ext cx="628650" cy="400050"/>
          </a:xfrm>
          <a:prstGeom xmlns:a="http://schemas.openxmlformats.org/drawingml/2006/main" prst="roundRect">
            <a:avLst>
              <a:gd name="adj" fmla="val 19048"/>
            </a:avLst>
          </a:prstGeom>
          <a:solidFill xmlns:a="http://schemas.openxmlformats.org/drawingml/2006/main">
            <a:srgbClr val="12121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79B210-6A09-4731-836B-6CB86D606EB4}"/>
              </a:ext>
            </a:extLst>
          </p:cNvPr>
          <p:cNvSpPr>
            <a:spLocks xmlns:a="http://schemas.openxmlformats.org/drawingml/2006/main" noGrp="1"/>
          </p:cNvSpPr>
          <p:nvPr/>
        </p:nvSpPr>
        <p:spPr>
          <a:xfrm xmlns:a="http://schemas.openxmlformats.org/drawingml/2006/main">
            <a:off x="781050" y="33242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FFFFFF"/>
                </a:solidFill>
                <a:latin typeface="Aptos"/>
                <a:ea typeface="Aptos"/>
                <a:cs typeface="Aptos"/>
              </a:defRPr>
            </a:pPr>
            <a:r>
              <a:rPr sz="975" b="1">
                <a:solidFill>
                  <a:srgbClr val="FFFFFF"/>
                </a:solidFill>
                <a:latin typeface="Aptos"/>
                <a:ea typeface="Aptos"/>
                <a:cs typeface="Aptos"/>
              </a:rPr>
              <a:t>W2</a:t>
            </a:r>
          </a:p>
        </p:txBody>
      </p:sp>
      <p:sp>
        <p:nvSpPr>
          <p:cNvPr id="11" name="">
            <a:extLst xmlns:a="http://schemas.openxmlformats.org/drawingml/2006/main">
              <a:ext uri="{FF2B5EF4-FFF2-40B4-BE49-F238E27FC236}">
                <a16:creationId xmlns:a16="http://schemas.microsoft.com/office/drawing/2014/main" id="{41AAD62B-68EA-474B-8112-615B35AE5E82}"/>
              </a:ext>
            </a:extLst>
          </p:cNvPr>
          <p:cNvSpPr>
            <a:spLocks xmlns:a="http://schemas.openxmlformats.org/drawingml/2006/main" noGrp="1"/>
          </p:cNvSpPr>
          <p:nvPr/>
        </p:nvSpPr>
        <p:spPr>
          <a:xfrm xmlns:a="http://schemas.openxmlformats.org/drawingml/2006/main">
            <a:off x="1657350" y="3228975"/>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121212"/>
                </a:solidFill>
                <a:latin typeface="Aptos"/>
                <a:ea typeface="Aptos"/>
                <a:cs typeface="Aptos"/>
              </a:defRPr>
            </a:pPr>
            <a:r>
              <a:rPr sz="1500" b="1">
                <a:solidFill>
                  <a:srgbClr val="121212"/>
                </a:solidFill>
                <a:latin typeface="Aptos"/>
                <a:ea typeface="Aptos"/>
                <a:cs typeface="Aptos"/>
              </a:rPr>
              <a:t>Judgment gate</a:t>
            </a:r>
          </a:p>
        </p:txBody>
      </p:sp>
      <p:sp>
        <p:nvSpPr>
          <p:cNvPr id="12" name="">
            <a:extLst xmlns:a="http://schemas.openxmlformats.org/drawingml/2006/main">
              <a:ext uri="{FF2B5EF4-FFF2-40B4-BE49-F238E27FC236}">
                <a16:creationId xmlns:a16="http://schemas.microsoft.com/office/drawing/2014/main" id="{EF015BBA-C62F-4885-A50A-438F6E7D947E}"/>
              </a:ext>
            </a:extLst>
          </p:cNvPr>
          <p:cNvSpPr>
            <a:spLocks xmlns:a="http://schemas.openxmlformats.org/drawingml/2006/main" noGrp="1"/>
          </p:cNvSpPr>
          <p:nvPr/>
        </p:nvSpPr>
        <p:spPr>
          <a:xfrm xmlns:a="http://schemas.openxmlformats.org/drawingml/2006/main">
            <a:off x="4343400" y="3228975"/>
            <a:ext cx="6896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707070"/>
                </a:solidFill>
                <a:latin typeface="Aptos"/>
                <a:ea typeface="Aptos"/>
                <a:cs typeface="Aptos"/>
              </a:defRPr>
            </a:pPr>
            <a:r>
              <a:rPr sz="1275" b="0">
                <a:solidFill>
                  <a:srgbClr val="707070"/>
                </a:solidFill>
                <a:latin typeface="Aptos"/>
                <a:ea typeface="Aptos"/>
                <a:cs typeface="Aptos"/>
              </a:rPr>
              <a:t>Capture claim, confidence, and reasoning. Run verification, understanding, and counter-case checks.</a:t>
            </a:r>
          </a:p>
        </p:txBody>
      </p:sp>
      <p:sp>
        <p:nvSpPr>
          <p:cNvPr id="13" name="">
            <a:extLst xmlns:a="http://schemas.openxmlformats.org/drawingml/2006/main">
              <a:ext uri="{FF2B5EF4-FFF2-40B4-BE49-F238E27FC236}">
                <a16:creationId xmlns:a16="http://schemas.microsoft.com/office/drawing/2014/main" id="{0CD6B04C-9172-4B5F-9443-52DAF11C38ED}"/>
              </a:ext>
            </a:extLst>
          </p:cNvPr>
          <p:cNvSpPr>
            <a:spLocks xmlns:a="http://schemas.openxmlformats.org/drawingml/2006/main" noGrp="1"/>
          </p:cNvSpPr>
          <p:nvPr/>
        </p:nvSpPr>
        <p:spPr>
          <a:xfrm xmlns:a="http://schemas.openxmlformats.org/drawingml/2006/main">
            <a:off x="1657350" y="3810000"/>
            <a:ext cx="9582150" cy="0"/>
          </a:xfrm>
          <a:prstGeom xmlns:a="http://schemas.openxmlformats.org/drawingml/2006/main" prst="line">
            <a:avLst/>
          </a:prstGeom>
          <a:noFill xmlns:a="http://schemas.openxmlformats.org/drawingml/2006/main"/>
          <a:ln xmlns:a="http://schemas.openxmlformats.org/drawingml/2006/main" w="9525">
            <a:solidFill>
              <a:srgbClr val="E7E5E1"/>
            </a:solidFill>
          </a:ln>
        </p:spPr>
      </p:sp>
      <p:sp>
        <p:nvSpPr>
          <p:cNvPr id="14" name="">
            <a:extLst xmlns:a="http://schemas.openxmlformats.org/drawingml/2006/main">
              <a:ext uri="{FF2B5EF4-FFF2-40B4-BE49-F238E27FC236}">
                <a16:creationId xmlns:a16="http://schemas.microsoft.com/office/drawing/2014/main" id="{47A7069C-F28D-4F1A-A633-83F3F031E4D7}"/>
              </a:ext>
            </a:extLst>
          </p:cNvPr>
          <p:cNvSpPr>
            <a:spLocks xmlns:a="http://schemas.openxmlformats.org/drawingml/2006/main" noGrp="1"/>
          </p:cNvSpPr>
          <p:nvPr/>
        </p:nvSpPr>
        <p:spPr>
          <a:xfrm xmlns:a="http://schemas.openxmlformats.org/drawingml/2006/main">
            <a:off x="685800" y="4000500"/>
            <a:ext cx="628650" cy="400050"/>
          </a:xfrm>
          <a:prstGeom xmlns:a="http://schemas.openxmlformats.org/drawingml/2006/main" prst="roundRect">
            <a:avLst>
              <a:gd name="adj" fmla="val 19048"/>
            </a:avLst>
          </a:prstGeom>
          <a:solidFill xmlns:a="http://schemas.openxmlformats.org/drawingml/2006/main">
            <a:srgbClr val="12121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CB164C7-8377-4201-BEBB-45055456CD0B}"/>
              </a:ext>
            </a:extLst>
          </p:cNvPr>
          <p:cNvSpPr>
            <a:spLocks xmlns:a="http://schemas.openxmlformats.org/drawingml/2006/main" noGrp="1"/>
          </p:cNvSpPr>
          <p:nvPr/>
        </p:nvSpPr>
        <p:spPr>
          <a:xfrm xmlns:a="http://schemas.openxmlformats.org/drawingml/2006/main">
            <a:off x="781050" y="410527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FFFFFF"/>
                </a:solidFill>
                <a:latin typeface="Aptos"/>
                <a:ea typeface="Aptos"/>
                <a:cs typeface="Aptos"/>
              </a:defRPr>
            </a:pPr>
            <a:r>
              <a:rPr sz="975" b="1">
                <a:solidFill>
                  <a:srgbClr val="FFFFFF"/>
                </a:solidFill>
                <a:latin typeface="Aptos"/>
                <a:ea typeface="Aptos"/>
                <a:cs typeface="Aptos"/>
              </a:rPr>
              <a:t>W3</a:t>
            </a:r>
          </a:p>
        </p:txBody>
      </p:sp>
      <p:sp>
        <p:nvSpPr>
          <p:cNvPr id="16" name="">
            <a:extLst xmlns:a="http://schemas.openxmlformats.org/drawingml/2006/main">
              <a:ext uri="{FF2B5EF4-FFF2-40B4-BE49-F238E27FC236}">
                <a16:creationId xmlns:a16="http://schemas.microsoft.com/office/drawing/2014/main" id="{A4954DA8-128C-422C-9E67-5C99147A4894}"/>
              </a:ext>
            </a:extLst>
          </p:cNvPr>
          <p:cNvSpPr>
            <a:spLocks xmlns:a="http://schemas.openxmlformats.org/drawingml/2006/main" noGrp="1"/>
          </p:cNvSpPr>
          <p:nvPr/>
        </p:nvSpPr>
        <p:spPr>
          <a:xfrm xmlns:a="http://schemas.openxmlformats.org/drawingml/2006/main">
            <a:off x="1657350" y="4010025"/>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121212"/>
                </a:solidFill>
                <a:latin typeface="Aptos"/>
                <a:ea typeface="Aptos"/>
                <a:cs typeface="Aptos"/>
              </a:defRPr>
            </a:pPr>
            <a:r>
              <a:rPr sz="1500" b="1">
                <a:solidFill>
                  <a:srgbClr val="121212"/>
                </a:solidFill>
                <a:latin typeface="Aptos"/>
                <a:ea typeface="Aptos"/>
                <a:cs typeface="Aptos"/>
              </a:rPr>
              <a:t>Decision memory</a:t>
            </a:r>
          </a:p>
        </p:txBody>
      </p:sp>
      <p:sp>
        <p:nvSpPr>
          <p:cNvPr id="17" name="">
            <a:extLst xmlns:a="http://schemas.openxmlformats.org/drawingml/2006/main">
              <a:ext uri="{FF2B5EF4-FFF2-40B4-BE49-F238E27FC236}">
                <a16:creationId xmlns:a16="http://schemas.microsoft.com/office/drawing/2014/main" id="{950ECB7A-03CF-4B12-996E-CFE39FD4C896}"/>
              </a:ext>
            </a:extLst>
          </p:cNvPr>
          <p:cNvSpPr>
            <a:spLocks xmlns:a="http://schemas.openxmlformats.org/drawingml/2006/main" noGrp="1"/>
          </p:cNvSpPr>
          <p:nvPr/>
        </p:nvSpPr>
        <p:spPr>
          <a:xfrm xmlns:a="http://schemas.openxmlformats.org/drawingml/2006/main">
            <a:off x="4343400" y="4010025"/>
            <a:ext cx="6896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707070"/>
                </a:solidFill>
                <a:latin typeface="Aptos"/>
                <a:ea typeface="Aptos"/>
                <a:cs typeface="Aptos"/>
              </a:defRPr>
            </a:pPr>
            <a:r>
              <a:rPr sz="1275" b="0">
                <a:solidFill>
                  <a:srgbClr val="707070"/>
                </a:solidFill>
                <a:latin typeface="Aptos"/>
                <a:ea typeface="Aptos"/>
                <a:cs typeface="Aptos"/>
              </a:rPr>
              <a:t>Log the call and outcome. Show calibration for the same type of decision.</a:t>
            </a:r>
          </a:p>
        </p:txBody>
      </p:sp>
      <p:sp>
        <p:nvSpPr>
          <p:cNvPr id="18" name="">
            <a:extLst xmlns:a="http://schemas.openxmlformats.org/drawingml/2006/main">
              <a:ext uri="{FF2B5EF4-FFF2-40B4-BE49-F238E27FC236}">
                <a16:creationId xmlns:a16="http://schemas.microsoft.com/office/drawing/2014/main" id="{E2D3A063-5B23-4B20-A19D-9F6FF09AE2A7}"/>
              </a:ext>
            </a:extLst>
          </p:cNvPr>
          <p:cNvSpPr>
            <a:spLocks xmlns:a="http://schemas.openxmlformats.org/drawingml/2006/main" noGrp="1"/>
          </p:cNvSpPr>
          <p:nvPr/>
        </p:nvSpPr>
        <p:spPr>
          <a:xfrm xmlns:a="http://schemas.openxmlformats.org/drawingml/2006/main">
            <a:off x="1657350" y="4591050"/>
            <a:ext cx="9582150" cy="0"/>
          </a:xfrm>
          <a:prstGeom xmlns:a="http://schemas.openxmlformats.org/drawingml/2006/main" prst="line">
            <a:avLst/>
          </a:prstGeom>
          <a:noFill xmlns:a="http://schemas.openxmlformats.org/drawingml/2006/main"/>
          <a:ln xmlns:a="http://schemas.openxmlformats.org/drawingml/2006/main" w="9525">
            <a:solidFill>
              <a:srgbClr val="E7E5E1"/>
            </a:solidFill>
          </a:ln>
        </p:spPr>
      </p:sp>
      <p:sp>
        <p:nvSpPr>
          <p:cNvPr id="19" name="">
            <a:extLst xmlns:a="http://schemas.openxmlformats.org/drawingml/2006/main">
              <a:ext uri="{FF2B5EF4-FFF2-40B4-BE49-F238E27FC236}">
                <a16:creationId xmlns:a16="http://schemas.microsoft.com/office/drawing/2014/main" id="{D95CFBDE-6D5D-476F-94F9-3B4B2EA86809}"/>
              </a:ext>
            </a:extLst>
          </p:cNvPr>
          <p:cNvSpPr>
            <a:spLocks xmlns:a="http://schemas.openxmlformats.org/drawingml/2006/main" noGrp="1"/>
          </p:cNvSpPr>
          <p:nvPr/>
        </p:nvSpPr>
        <p:spPr>
          <a:xfrm xmlns:a="http://schemas.openxmlformats.org/drawingml/2006/main">
            <a:off x="685800" y="4781550"/>
            <a:ext cx="628650" cy="400050"/>
          </a:xfrm>
          <a:prstGeom xmlns:a="http://schemas.openxmlformats.org/drawingml/2006/main" prst="roundRect">
            <a:avLst>
              <a:gd name="adj" fmla="val 19048"/>
            </a:avLst>
          </a:prstGeom>
          <a:solidFill xmlns:a="http://schemas.openxmlformats.org/drawingml/2006/main">
            <a:srgbClr val="12121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CA7A316-D006-4FE4-8817-D2C6184755E9}"/>
              </a:ext>
            </a:extLst>
          </p:cNvPr>
          <p:cNvSpPr>
            <a:spLocks xmlns:a="http://schemas.openxmlformats.org/drawingml/2006/main" noGrp="1"/>
          </p:cNvSpPr>
          <p:nvPr/>
        </p:nvSpPr>
        <p:spPr>
          <a:xfrm xmlns:a="http://schemas.openxmlformats.org/drawingml/2006/main">
            <a:off x="781050" y="4886325"/>
            <a:ext cx="438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FFFFFF"/>
                </a:solidFill>
                <a:latin typeface="Aptos"/>
                <a:ea typeface="Aptos"/>
                <a:cs typeface="Aptos"/>
              </a:defRPr>
            </a:pPr>
            <a:r>
              <a:rPr sz="975" b="1">
                <a:solidFill>
                  <a:srgbClr val="FFFFFF"/>
                </a:solidFill>
                <a:latin typeface="Aptos"/>
                <a:ea typeface="Aptos"/>
                <a:cs typeface="Aptos"/>
              </a:rPr>
              <a:t>W4</a:t>
            </a:r>
          </a:p>
        </p:txBody>
      </p:sp>
      <p:sp>
        <p:nvSpPr>
          <p:cNvPr id="21" name="">
            <a:extLst xmlns:a="http://schemas.openxmlformats.org/drawingml/2006/main">
              <a:ext uri="{FF2B5EF4-FFF2-40B4-BE49-F238E27FC236}">
                <a16:creationId xmlns:a16="http://schemas.microsoft.com/office/drawing/2014/main" id="{05E45AA5-B0C7-4A81-931D-37EDA6983CB7}"/>
              </a:ext>
            </a:extLst>
          </p:cNvPr>
          <p:cNvSpPr>
            <a:spLocks xmlns:a="http://schemas.openxmlformats.org/drawingml/2006/main" noGrp="1"/>
          </p:cNvSpPr>
          <p:nvPr/>
        </p:nvSpPr>
        <p:spPr>
          <a:xfrm xmlns:a="http://schemas.openxmlformats.org/drawingml/2006/main">
            <a:off x="1657350" y="4791075"/>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121212"/>
                </a:solidFill>
                <a:latin typeface="Aptos"/>
                <a:ea typeface="Aptos"/>
                <a:cs typeface="Aptos"/>
              </a:defRPr>
            </a:pPr>
            <a:r>
              <a:rPr sz="1500" b="1">
                <a:solidFill>
                  <a:srgbClr val="121212"/>
                </a:solidFill>
                <a:latin typeface="Aptos"/>
                <a:ea typeface="Aptos"/>
                <a:cs typeface="Aptos"/>
              </a:rPr>
              <a:t>Live workflow</a:t>
            </a:r>
          </a:p>
        </p:txBody>
      </p:sp>
      <p:sp>
        <p:nvSpPr>
          <p:cNvPr id="22" name="">
            <a:extLst xmlns:a="http://schemas.openxmlformats.org/drawingml/2006/main">
              <a:ext uri="{FF2B5EF4-FFF2-40B4-BE49-F238E27FC236}">
                <a16:creationId xmlns:a16="http://schemas.microsoft.com/office/drawing/2014/main" id="{CB88E756-B4DB-4231-9AFA-FF735FDC82DD}"/>
              </a:ext>
            </a:extLst>
          </p:cNvPr>
          <p:cNvSpPr>
            <a:spLocks xmlns:a="http://schemas.openxmlformats.org/drawingml/2006/main" noGrp="1"/>
          </p:cNvSpPr>
          <p:nvPr/>
        </p:nvSpPr>
        <p:spPr>
          <a:xfrm xmlns:a="http://schemas.openxmlformats.org/drawingml/2006/main">
            <a:off x="4343400" y="4791075"/>
            <a:ext cx="6896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707070"/>
                </a:solidFill>
                <a:latin typeface="Aptos"/>
                <a:ea typeface="Aptos"/>
                <a:cs typeface="Aptos"/>
              </a:defRPr>
            </a:pPr>
            <a:r>
              <a:rPr sz="1275" b="0">
                <a:solidFill>
                  <a:srgbClr val="707070"/>
                </a:solidFill>
                <a:latin typeface="Aptos"/>
                <a:ea typeface="Aptos"/>
                <a:cs typeface="Aptos"/>
              </a:rPr>
              <a:t>Add selective orchestration, recurring resurfacing, adversarial testing, and a five-minute demo.</a:t>
            </a:r>
          </a:p>
        </p:txBody>
      </p:sp>
      <p:sp>
        <p:nvSpPr>
          <p:cNvPr id="23" name="">
            <a:extLst xmlns:a="http://schemas.openxmlformats.org/drawingml/2006/main">
              <a:ext uri="{FF2B5EF4-FFF2-40B4-BE49-F238E27FC236}">
                <a16:creationId xmlns:a16="http://schemas.microsoft.com/office/drawing/2014/main" id="{A8C836CB-EBAD-467C-AB91-F7F8EAA50BF8}"/>
              </a:ext>
            </a:extLst>
          </p:cNvPr>
          <p:cNvSpPr>
            <a:spLocks xmlns:a="http://schemas.openxmlformats.org/drawingml/2006/main" noGrp="1"/>
          </p:cNvSpPr>
          <p:nvPr/>
        </p:nvSpPr>
        <p:spPr>
          <a:xfrm xmlns:a="http://schemas.openxmlformats.org/drawingml/2006/main">
            <a:off x="685800" y="5772150"/>
            <a:ext cx="10820400" cy="0"/>
          </a:xfrm>
          <a:prstGeom xmlns:a="http://schemas.openxmlformats.org/drawingml/2006/main" prst="line">
            <a:avLst/>
          </a:prstGeom>
          <a:noFill xmlns:a="http://schemas.openxmlformats.org/drawingml/2006/main"/>
          <a:ln xmlns:a="http://schemas.openxmlformats.org/drawingml/2006/main" w="19050">
            <a:solidFill>
              <a:srgbClr val="E7E5E1"/>
            </a:solidFill>
          </a:ln>
        </p:spPr>
      </p:sp>
      <p:sp>
        <p:nvSpPr>
          <p:cNvPr id="24" name="">
            <a:extLst xmlns:a="http://schemas.openxmlformats.org/drawingml/2006/main">
              <a:ext uri="{FF2B5EF4-FFF2-40B4-BE49-F238E27FC236}">
                <a16:creationId xmlns:a16="http://schemas.microsoft.com/office/drawing/2014/main" id="{8C39988D-64DB-4800-B2F0-0740AB29D039}"/>
              </a:ext>
            </a:extLst>
          </p:cNvPr>
          <p:cNvSpPr>
            <a:spLocks xmlns:a="http://schemas.openxmlformats.org/drawingml/2006/main" noGrp="1"/>
          </p:cNvSpPr>
          <p:nvPr/>
        </p:nvSpPr>
        <p:spPr>
          <a:xfrm xmlns:a="http://schemas.openxmlformats.org/drawingml/2006/main">
            <a:off x="685800" y="60007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1">
                <a:solidFill>
                  <a:srgbClr val="121212"/>
                </a:solidFill>
                <a:latin typeface="Aptos"/>
                <a:ea typeface="Aptos"/>
                <a:cs typeface="Aptos"/>
              </a:defRPr>
            </a:pPr>
            <a:r>
              <a:rPr sz="1275" b="1">
                <a:solidFill>
                  <a:srgbClr val="121212"/>
                </a:solidFill>
                <a:latin typeface="Aptos"/>
                <a:ea typeface="Aptos"/>
                <a:cs typeface="Aptos"/>
              </a:rPr>
              <a:t>Deliverable</a:t>
            </a:r>
          </a:p>
        </p:txBody>
      </p:sp>
      <p:sp>
        <p:nvSpPr>
          <p:cNvPr id="25" name="">
            <a:extLst xmlns:a="http://schemas.openxmlformats.org/drawingml/2006/main">
              <a:ext uri="{FF2B5EF4-FFF2-40B4-BE49-F238E27FC236}">
                <a16:creationId xmlns:a16="http://schemas.microsoft.com/office/drawing/2014/main" id="{F95470B5-248A-4A50-A984-DFE930045688}"/>
              </a:ext>
            </a:extLst>
          </p:cNvPr>
          <p:cNvSpPr>
            <a:spLocks xmlns:a="http://schemas.openxmlformats.org/drawingml/2006/main" noGrp="1"/>
          </p:cNvSpPr>
          <p:nvPr/>
        </p:nvSpPr>
        <p:spPr>
          <a:xfrm xmlns:a="http://schemas.openxmlformats.org/drawingml/2006/main">
            <a:off x="1924050" y="6000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707070"/>
                </a:solidFill>
                <a:latin typeface="Aptos"/>
                <a:ea typeface="Aptos"/>
                <a:cs typeface="Aptos"/>
              </a:defRPr>
            </a:pPr>
            <a:r>
              <a:rPr sz="1275" b="0">
                <a:solidFill>
                  <a:srgbClr val="707070"/>
                </a:solidFill>
                <a:latin typeface="Aptos"/>
                <a:ea typeface="Aptos"/>
                <a:cs typeface="Aptos"/>
              </a:rPr>
              <a:t>A working loop from open decision to committed judgment to outcome learning.</a:t>
            </a:r>
          </a:p>
        </p:txBody>
      </p:sp>
      <p:sp>
        <p:nvSpPr>
          <p:cNvPr id="26" name="">
            <a:extLst xmlns:a="http://schemas.openxmlformats.org/drawingml/2006/main">
              <a:ext uri="{FF2B5EF4-FFF2-40B4-BE49-F238E27FC236}">
                <a16:creationId xmlns:a16="http://schemas.microsoft.com/office/drawing/2014/main" id="{CFCF15E3-3FF7-4B03-B283-11EA6BE4FF3F}"/>
              </a:ext>
            </a:extLst>
          </p:cNvPr>
          <p:cNvSpPr>
            <a:spLocks xmlns:a="http://schemas.openxmlformats.org/drawingml/2006/main" noGrp="1"/>
          </p:cNvSpPr>
          <p:nvPr/>
        </p:nvSpPr>
        <p:spPr>
          <a:xfrm xmlns:a="http://schemas.openxmlformats.org/drawingml/2006/main">
            <a:off x="11277600" y="6486525"/>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50" b="0">
                <a:solidFill>
                  <a:srgbClr val="B9B9B9"/>
                </a:solidFill>
                <a:latin typeface="Aptos"/>
                <a:ea typeface="Aptos"/>
                <a:cs typeface="Aptos"/>
              </a:defRPr>
            </a:pPr>
            <a:r>
              <a:rPr sz="750" b="0">
                <a:solidFill>
                  <a:srgbClr val="B9B9B9"/>
                </a:solidFill>
                <a:latin typeface="Aptos"/>
                <a:ea typeface="Aptos"/>
                <a:cs typeface="Aptos"/>
              </a:rPr>
              <a:t>5/5</a:t>
            </a:r>
          </a:p>
        </p:txBody>
      </p:sp>
    </p:spTree>
    <p:extLst>
      <p:ext uri="{BB962C8B-B14F-4D97-AF65-F5344CB8AC3E}">
        <p14:creationId xmlns:p14="http://schemas.microsoft.com/office/powerpoint/2010/main" val="9393219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2026-09-12T07:46:52.5080000Z</dcterms:created>
  <dcterms:modified xsi:type="dcterms:W3CDTF">2026-09-12T07:46:52.5080000Z</dcterms:modified>
</coreProperties>
</file>