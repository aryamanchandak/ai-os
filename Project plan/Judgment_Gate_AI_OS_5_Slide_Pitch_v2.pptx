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1655064" cy="292608"/>
          </a:xfrm>
          <a:prstGeom prst="roundRect">
            <a:avLst>
              <a:gd name="adj" fmla="val 25000"/>
            </a:avLst>
          </a:prstGeom>
          <a:solidFill>
            <a:srgbClr val="2A2A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AI OS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Judgment Gate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judgment core of your AI OS orchestrator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10820095" cy="0"/>
          </a:xfrm>
          <a:prstGeom prst="line">
            <a:avLst/>
          </a:prstGeom>
          <a:noFill/>
          <a:ln w="9525">
            <a:solidFill>
              <a:srgbClr val="3B3B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B9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AI OS understands and keeps track of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30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3630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decisions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142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 work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40142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history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60920" y="2880360"/>
            <a:ext cx="54864" cy="1737360"/>
          </a:xfrm>
          <a:prstGeom prst="rect">
            <a:avLst/>
          </a:prstGeom>
          <a:solidFill>
            <a:srgbClr val="E43A2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35240" y="3017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decision help,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state your judgment.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9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Claim. Confidence. Reasoning.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3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before you’re checked.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1408176" cy="292608"/>
          </a:xfrm>
          <a:prstGeom prst="roundRect">
            <a:avLst>
              <a:gd name="adj" fmla="val 25000"/>
            </a:avLst>
          </a:prstGeom>
          <a:solidFill>
            <a:srgbClr val="FCEAE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3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144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12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assistants optimize for answers.
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12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judgment quietly disappears.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effortless answer moves context into the model and practice out of the user.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423160"/>
            <a:ext cx="10820095" cy="0"/>
          </a:xfrm>
          <a:prstGeom prst="line">
            <a:avLst/>
          </a:prstGeom>
          <a:noFill/>
          <a:ln w="9525">
            <a:solidFill>
              <a:srgbClr val="E7E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ASSISTANT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commitment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track record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69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learning loop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GOES MISSING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0632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 Did I understand it?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4472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 What would change my mind?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83133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 How calibrated am I here?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421538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 Does this deserve attention now?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5806440"/>
            <a:ext cx="10820095" cy="0"/>
          </a:xfrm>
          <a:prstGeom prst="line">
            <a:avLst/>
          </a:prstGeom>
          <a:noFill/>
          <a:ln w="9525">
            <a:solidFill>
              <a:srgbClr val="E7E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3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scarce resource is decision quality, not answer speed.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1655064" cy="292608"/>
          </a:xfrm>
          <a:prstGeom prst="roundRect">
            <a:avLst>
              <a:gd name="adj" fmla="val 25000"/>
            </a:avLst>
          </a:prstGeom>
          <a:solidFill>
            <a:srgbClr val="FCEAE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3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FOUNDATION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212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AI OS that already carries context — not a demo, a platform.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Roughly 30 interconnected repos, one shared substrate, four specialists already running on real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10820095" cy="0"/>
          </a:xfrm>
          <a:prstGeom prst="line">
            <a:avLst/>
          </a:prstGeom>
          <a:noFill/>
          <a:ln w="9525">
            <a:solidFill>
              <a:srgbClr val="E7E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2316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3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CONSTITUTION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07208"/>
            <a:ext cx="33649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shared LLM gateway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MCP server as the tool boundary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data root, one entity namespace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FastAPI + React shell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416552" y="242316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3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SPECIALISTS — LIVE TODAY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416552" y="2807208"/>
            <a:ext cx="33649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MCP — corpus-grounded fact-checking, adaptive routing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Tracker — logged calls, calibration by decision type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Steelman Generator — adversarial counter-case construction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Mental Model Builder — falsifiable predictions from what you read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147304" y="242316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3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MEMORY SUBSTRATE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147304" y="2807208"/>
            <a:ext cx="33649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Neo4j entity graph + ChromaDB semantic memory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namespace across goals, notes, tasks, decisions, outcomes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specialist can resolve “what do I already know about this”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5806440"/>
            <a:ext cx="10820095" cy="502920"/>
          </a:xfrm>
          <a:prstGeom prst="rect">
            <a:avLst/>
          </a:prstGeom>
          <a:solidFill>
            <a:srgbClr val="FCEA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80644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3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star:  </a:t>
            </a:r>
            <a:pPr indent="0" marL="0">
              <a:buNone/>
            </a:pPr>
            <a:r>
              <a:rPr lang="en-US" sz="1300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reverse the cognitive debt of AI use — hand judgment back, don’t absorb it.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1408176" cy="292608"/>
          </a:xfrm>
          <a:prstGeom prst="roundRect">
            <a:avLst>
              <a:gd name="adj" fmla="val 25000"/>
            </a:avLst>
          </a:prstGeom>
          <a:solidFill>
            <a:srgbClr val="FCEAE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3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212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router. Five judgment-shaped asks. Your own specialists, wired together.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gate won’t act until you commit a claim, a confidence, and your reasoning. Then it routes.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10820095" cy="0"/>
          </a:xfrm>
          <a:prstGeom prst="line">
            <a:avLst/>
          </a:prstGeom>
          <a:noFill/>
          <a:ln w="9525">
            <a:solidFill>
              <a:srgbClr val="E7E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3134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43A2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8600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claim true — and where did I already establish that?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28600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50" kern="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MCP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43A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85292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I understand this, or just recognize the vocabulary?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8529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50" kern="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UNDERSTANDING-DIAGNOSIS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44728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43A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19856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What’s the strongest case against my current view?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41985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50" kern="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STEELMAN GENERATOR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01421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43A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986784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I predict here before — and was I right?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398678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50" kern="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TRACKER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458114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43A2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455371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all of this — and my calendar and backlog — what should I actually be doing right now?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55371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50" kern="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ORCHESTRATOR GATE + CALENDAR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5193792"/>
            <a:ext cx="10820095" cy="0"/>
          </a:xfrm>
          <a:prstGeom prst="line">
            <a:avLst/>
          </a:prstGeom>
          <a:noFill/>
          <a:ln w="9525">
            <a:solidFill>
              <a:srgbClr val="E7E5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3218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Charter: owns routing and cross-agent context — delegates judgment to whichever specialist owns it — never fabricates when nothing covers the ask, surfaces the gap instead — the human makes the final call.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3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moat isn’t any one check — it’s this router wired into one person’s own accumulated context, decision history, and calibration.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1243584" cy="292608"/>
          </a:xfrm>
          <a:prstGeom prst="roundRect">
            <a:avLst>
              <a:gd name="adj" fmla="val 25000"/>
            </a:avLst>
          </a:prstGeom>
          <a:solidFill>
            <a:srgbClr val="FCEAE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3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BUILD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weeks to a working orchestrator, not a demo.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user. Real specialists. Persistent context. Closed outcome loops.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10820095" cy="0"/>
          </a:xfrm>
          <a:prstGeom prst="line">
            <a:avLst/>
          </a:prstGeom>
          <a:noFill/>
          <a:ln w="9525">
            <a:solidFill>
              <a:srgbClr val="E7E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24028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E43A2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2402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 scope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2167128"/>
            <a:ext cx="7863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which 3 specialists work today on real data. Ship a bare orchestrator to the VPS immediately to retire deployment risk.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8152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E43A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08152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035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 it for real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08376"/>
            <a:ext cx="7863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MCP calls and shared context to all 3 specialists. Build the claim-verification + understanding-diagnosis core.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922776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E43A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92277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877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 it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3849624"/>
            <a:ext cx="7863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pass: misleading “pre-verified” sources, fluent-but-wrong explanations, queries engineered to misroute the orchestrator. Confidence-gating and calibration logging.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764024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E43A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76402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7183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 the pitch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3886200" y="4690872"/>
            <a:ext cx="7863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hardening, real usage, replay/trace capture, repeated five-minute dry runs.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5650992"/>
            <a:ext cx="10820095" cy="0"/>
          </a:xfrm>
          <a:prstGeom prst="line">
            <a:avLst/>
          </a:prstGeom>
          <a:noFill/>
          <a:ln w="9525">
            <a:solidFill>
              <a:srgbClr val="E7E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788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43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Deliverable: 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loop — open decision → specialist-backed checks → committed judgment → outcome learning — running on your own AI OS.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2026-09-12T08:07:23Z</dcterms:created>
  <dcterms:modified xsi:type="dcterms:W3CDTF">2026-09-12T08:07:23Z</dcterms:modified>
</cp:coreProperties>
</file>